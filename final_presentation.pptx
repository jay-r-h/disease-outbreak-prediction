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 id="258" r:id="rId4"/>
    <p:sldId id="263" r:id="rId5"/>
    <p:sldId id="262" r:id="rId6"/>
    <p:sldId id="264" r:id="rId7"/>
    <p:sldId id="265" r:id="rId8"/>
    <p:sldId id="266" r:id="rId9"/>
    <p:sldId id="268" r:id="rId10"/>
    <p:sldId id="26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461383-E539-46C5-AA37-88D8DC737F07}" type="datetimeFigureOut">
              <a:rPr lang="en-IN" smtClean="0"/>
              <a:t>07-12-2023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EA1C4-DC0D-402C-986E-2B11999C5C1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271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461383-E539-46C5-AA37-88D8DC737F07}" type="datetimeFigureOut">
              <a:rPr lang="en-IN" smtClean="0"/>
              <a:t>07-12-2023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EA1C4-DC0D-402C-986E-2B11999C5C1F}" type="slidenum">
              <a:rPr lang="en-IN" smtClean="0"/>
              <a:t>‹#›</a:t>
            </a:fld>
            <a:endParaRPr lang="en-IN"/>
          </a:p>
        </p:txBody>
      </p:sp>
    </p:spTree>
    <p:extLst>
      <p:ext uri="{BB962C8B-B14F-4D97-AF65-F5344CB8AC3E}">
        <p14:creationId xmlns:p14="http://schemas.microsoft.com/office/powerpoint/2010/main" val="1969970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461383-E539-46C5-AA37-88D8DC737F07}" type="datetimeFigureOut">
              <a:rPr lang="en-IN" smtClean="0"/>
              <a:t>07-12-2023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EA1C4-DC0D-402C-986E-2B11999C5C1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602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461383-E539-46C5-AA37-88D8DC737F07}" type="datetimeFigureOut">
              <a:rPr lang="en-IN" smtClean="0"/>
              <a:t>07-12-2023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8EA1C4-DC0D-402C-986E-2B11999C5C1F}" type="slidenum">
              <a:rPr lang="en-IN" smtClean="0"/>
              <a:t>‹#›</a:t>
            </a:fld>
            <a:endParaRPr lang="en-IN"/>
          </a:p>
        </p:txBody>
      </p:sp>
    </p:spTree>
    <p:extLst>
      <p:ext uri="{BB962C8B-B14F-4D97-AF65-F5344CB8AC3E}">
        <p14:creationId xmlns:p14="http://schemas.microsoft.com/office/powerpoint/2010/main" val="3434480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461383-E539-46C5-AA37-88D8DC737F07}" type="datetimeFigureOut">
              <a:rPr lang="en-IN" smtClean="0"/>
              <a:t>07-12-2023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8EA1C4-DC0D-402C-986E-2B11999C5C1F}" type="slidenum">
              <a:rPr lang="en-IN" smtClean="0"/>
              <a:t>‹#›</a:t>
            </a:fld>
            <a:endParaRPr lang="en-IN"/>
          </a:p>
        </p:txBody>
      </p:sp>
    </p:spTree>
    <p:extLst>
      <p:ext uri="{BB962C8B-B14F-4D97-AF65-F5344CB8AC3E}">
        <p14:creationId xmlns:p14="http://schemas.microsoft.com/office/powerpoint/2010/main" val="2951088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461383-E539-46C5-AA37-88D8DC737F07}" type="datetimeFigureOut">
              <a:rPr lang="en-IN" smtClean="0"/>
              <a:t>07-12-2023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8EA1C4-DC0D-402C-986E-2B11999C5C1F}" type="slidenum">
              <a:rPr lang="en-IN" smtClean="0"/>
              <a:t>‹#›</a:t>
            </a:fld>
            <a:endParaRPr lang="en-IN"/>
          </a:p>
        </p:txBody>
      </p:sp>
    </p:spTree>
    <p:extLst>
      <p:ext uri="{BB962C8B-B14F-4D97-AF65-F5344CB8AC3E}">
        <p14:creationId xmlns:p14="http://schemas.microsoft.com/office/powerpoint/2010/main" val="2195196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A461383-E539-46C5-AA37-88D8DC737F07}" type="datetimeFigureOut">
              <a:rPr lang="en-IN" smtClean="0"/>
              <a:t>07-12-2023</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618EA1C4-DC0D-402C-986E-2B11999C5C1F}" type="slidenum">
              <a:rPr lang="en-IN" smtClean="0"/>
              <a:t>‹#›</a:t>
            </a:fld>
            <a:endParaRPr lang="en-IN"/>
          </a:p>
        </p:txBody>
      </p:sp>
    </p:spTree>
    <p:extLst>
      <p:ext uri="{BB962C8B-B14F-4D97-AF65-F5344CB8AC3E}">
        <p14:creationId xmlns:p14="http://schemas.microsoft.com/office/powerpoint/2010/main" val="566029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461383-E539-46C5-AA37-88D8DC737F07}" type="datetimeFigureOut">
              <a:rPr lang="en-IN" smtClean="0"/>
              <a:t>07-12-2023</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18EA1C4-DC0D-402C-986E-2B11999C5C1F}" type="slidenum">
              <a:rPr lang="en-IN" smtClean="0"/>
              <a:t>‹#›</a:t>
            </a:fld>
            <a:endParaRPr lang="en-IN"/>
          </a:p>
        </p:txBody>
      </p:sp>
    </p:spTree>
    <p:extLst>
      <p:ext uri="{BB962C8B-B14F-4D97-AF65-F5344CB8AC3E}">
        <p14:creationId xmlns:p14="http://schemas.microsoft.com/office/powerpoint/2010/main" val="684576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461383-E539-46C5-AA37-88D8DC737F07}" type="datetimeFigureOut">
              <a:rPr lang="en-IN" smtClean="0"/>
              <a:t>07-12-2023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8EA1C4-DC0D-402C-986E-2B11999C5C1F}" type="slidenum">
              <a:rPr lang="en-IN" smtClean="0"/>
              <a:t>‹#›</a:t>
            </a:fld>
            <a:endParaRPr lang="en-IN"/>
          </a:p>
        </p:txBody>
      </p:sp>
    </p:spTree>
    <p:extLst>
      <p:ext uri="{BB962C8B-B14F-4D97-AF65-F5344CB8AC3E}">
        <p14:creationId xmlns:p14="http://schemas.microsoft.com/office/powerpoint/2010/main" val="3665584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461383-E539-46C5-AA37-88D8DC737F07}" type="datetimeFigureOut">
              <a:rPr lang="en-IN" smtClean="0"/>
              <a:t>07-12-2023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EA1C4-DC0D-402C-986E-2B11999C5C1F}" type="slidenum">
              <a:rPr lang="en-IN" smtClean="0"/>
              <a:t>‹#›</a:t>
            </a:fld>
            <a:endParaRPr lang="en-IN"/>
          </a:p>
        </p:txBody>
      </p:sp>
    </p:spTree>
    <p:extLst>
      <p:ext uri="{BB962C8B-B14F-4D97-AF65-F5344CB8AC3E}">
        <p14:creationId xmlns:p14="http://schemas.microsoft.com/office/powerpoint/2010/main" val="44684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461383-E539-46C5-AA37-88D8DC737F07}" type="datetimeFigureOut">
              <a:rPr lang="en-IN" smtClean="0"/>
              <a:t>07-12-2023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8EA1C4-DC0D-402C-986E-2B11999C5C1F}" type="slidenum">
              <a:rPr lang="en-IN" smtClean="0"/>
              <a:t>‹#›</a:t>
            </a:fld>
            <a:endParaRPr lang="en-IN"/>
          </a:p>
        </p:txBody>
      </p:sp>
    </p:spTree>
    <p:extLst>
      <p:ext uri="{BB962C8B-B14F-4D97-AF65-F5344CB8AC3E}">
        <p14:creationId xmlns:p14="http://schemas.microsoft.com/office/powerpoint/2010/main" val="3800909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A461383-E539-46C5-AA37-88D8DC737F07}" type="datetimeFigureOut">
              <a:rPr lang="en-IN" smtClean="0"/>
              <a:t>07-12-2023</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18EA1C4-DC0D-402C-986E-2B11999C5C1F}"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3517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3CBEC-DA7E-B328-29E6-C7058236251A}"/>
              </a:ext>
            </a:extLst>
          </p:cNvPr>
          <p:cNvSpPr>
            <a:spLocks noGrp="1"/>
          </p:cNvSpPr>
          <p:nvPr>
            <p:ph type="ctrTitle"/>
          </p:nvPr>
        </p:nvSpPr>
        <p:spPr>
          <a:xfrm>
            <a:off x="762000" y="360471"/>
            <a:ext cx="10668000" cy="3068529"/>
          </a:xfrm>
        </p:spPr>
        <p:txBody>
          <a:bodyPr>
            <a:normAutofit fontScale="90000"/>
          </a:bodyPr>
          <a:lstStyle/>
          <a:p>
            <a:r>
              <a:rPr lang="en-US" b="1" dirty="0"/>
              <a:t>Predicting Disease Outbreaks Using Time Series Forecasting and Classification</a:t>
            </a:r>
            <a:endParaRPr lang="en-IN" b="1" dirty="0"/>
          </a:p>
        </p:txBody>
      </p:sp>
      <p:sp>
        <p:nvSpPr>
          <p:cNvPr id="3" name="Subtitle 2">
            <a:extLst>
              <a:ext uri="{FF2B5EF4-FFF2-40B4-BE49-F238E27FC236}">
                <a16:creationId xmlns:a16="http://schemas.microsoft.com/office/drawing/2014/main" id="{C76B4A4B-9E6F-3BC3-A7D4-D38C89BFF115}"/>
              </a:ext>
            </a:extLst>
          </p:cNvPr>
          <p:cNvSpPr>
            <a:spLocks noGrp="1"/>
          </p:cNvSpPr>
          <p:nvPr>
            <p:ph type="subTitle" idx="1"/>
          </p:nvPr>
        </p:nvSpPr>
        <p:spPr>
          <a:xfrm>
            <a:off x="762000" y="4500027"/>
            <a:ext cx="7500857" cy="1605804"/>
          </a:xfrm>
        </p:spPr>
        <p:txBody>
          <a:bodyPr>
            <a:normAutofit fontScale="55000" lnSpcReduction="20000"/>
          </a:bodyPr>
          <a:lstStyle/>
          <a:p>
            <a:r>
              <a:rPr lang="en-IN" sz="6300" b="1" dirty="0">
                <a:solidFill>
                  <a:schemeClr val="tx1"/>
                </a:solidFill>
              </a:rPr>
              <a:t>Data Mining </a:t>
            </a:r>
          </a:p>
          <a:p>
            <a:br>
              <a:rPr lang="en-IN" dirty="0">
                <a:solidFill>
                  <a:schemeClr val="tx1"/>
                </a:solidFill>
              </a:rPr>
            </a:br>
            <a:r>
              <a:rPr lang="en-IN" sz="2500" dirty="0">
                <a:solidFill>
                  <a:schemeClr val="tx1"/>
                </a:solidFill>
              </a:rPr>
              <a:t>Aniket Ranjeet Sharma</a:t>
            </a:r>
          </a:p>
          <a:p>
            <a:r>
              <a:rPr lang="en-IN" sz="2500" dirty="0">
                <a:solidFill>
                  <a:schemeClr val="tx1"/>
                </a:solidFill>
              </a:rPr>
              <a:t>Jayanand Hiremath</a:t>
            </a:r>
          </a:p>
          <a:p>
            <a:r>
              <a:rPr lang="en-IN" sz="2500" dirty="0">
                <a:solidFill>
                  <a:schemeClr val="tx1"/>
                </a:solidFill>
              </a:rPr>
              <a:t>Preetham Reddy Vinnamala</a:t>
            </a:r>
          </a:p>
        </p:txBody>
      </p:sp>
    </p:spTree>
    <p:extLst>
      <p:ext uri="{BB962C8B-B14F-4D97-AF65-F5344CB8AC3E}">
        <p14:creationId xmlns:p14="http://schemas.microsoft.com/office/powerpoint/2010/main" val="3891427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580B-2F2A-4ED4-57D1-93649352EE96}"/>
              </a:ext>
            </a:extLst>
          </p:cNvPr>
          <p:cNvSpPr>
            <a:spLocks noGrp="1"/>
          </p:cNvSpPr>
          <p:nvPr>
            <p:ph type="title" idx="4294967295"/>
          </p:nvPr>
        </p:nvSpPr>
        <p:spPr>
          <a:xfrm>
            <a:off x="108154" y="88489"/>
            <a:ext cx="1170039" cy="471949"/>
          </a:xfrm>
        </p:spPr>
        <p:txBody>
          <a:bodyPr>
            <a:noAutofit/>
          </a:bodyPr>
          <a:lstStyle/>
          <a:p>
            <a:r>
              <a:rPr lang="en-IN" sz="2000" b="1" dirty="0"/>
              <a:t> </a:t>
            </a:r>
            <a:br>
              <a:rPr lang="en-IN" sz="2000" b="1" dirty="0"/>
            </a:br>
            <a:r>
              <a:rPr lang="en-IN" sz="2400" b="1" u="sng" dirty="0"/>
              <a:t>Agenda</a:t>
            </a:r>
            <a:r>
              <a:rPr lang="en-IN" sz="2000" b="1" u="sng" dirty="0"/>
              <a:t>:</a:t>
            </a:r>
          </a:p>
        </p:txBody>
      </p:sp>
      <p:sp>
        <p:nvSpPr>
          <p:cNvPr id="5" name="TextBox 4">
            <a:extLst>
              <a:ext uri="{FF2B5EF4-FFF2-40B4-BE49-F238E27FC236}">
                <a16:creationId xmlns:a16="http://schemas.microsoft.com/office/drawing/2014/main" id="{7B9AAB1A-5E2E-233B-BF31-8F0D4359AEEE}"/>
              </a:ext>
            </a:extLst>
          </p:cNvPr>
          <p:cNvSpPr txBox="1"/>
          <p:nvPr/>
        </p:nvSpPr>
        <p:spPr>
          <a:xfrm>
            <a:off x="88488" y="598485"/>
            <a:ext cx="11985523" cy="7571303"/>
          </a:xfrm>
          <a:prstGeom prst="rect">
            <a:avLst/>
          </a:prstGeom>
          <a:noFill/>
        </p:spPr>
        <p:txBody>
          <a:bodyPr wrap="square">
            <a:spAutoFit/>
          </a:bodyPr>
          <a:lstStyle/>
          <a:p>
            <a:pPr marL="285750" indent="-285750" algn="just">
              <a:buFont typeface="Arial" panose="020B0604020202020204" pitchFamily="34" charset="0"/>
              <a:buChar char="•"/>
            </a:pPr>
            <a:r>
              <a:rPr lang="en-US" dirty="0"/>
              <a:t> Predictions of COVID disease outbreaks aid in resource allocation, policymaking, and public health interventions. Prediction models can be used to identify high-risk populations and target preventive measures - vaccination campaigns, health screenings, and educational programs.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Performing time series analysis to predict /forecast the new cases and deaths. Utilizing the prediction to classify the regions/countries as low risk, medium risk, high risk depending upon the medical facilities, GDP, population density and infrastructure like adult intensive care beds, doctors, number of hospitals </a:t>
            </a:r>
            <a:r>
              <a:rPr lang="en-US" dirty="0" err="1"/>
              <a:t>etc</a:t>
            </a:r>
            <a:r>
              <a:rPr lang="en-US" dirty="0"/>
              <a:t> to deal with the disease.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Brief about the approach taken to meet the goals of agenda:</a:t>
            </a:r>
          </a:p>
          <a:p>
            <a:pPr marL="742950" lvl="1" indent="-285750" algn="just">
              <a:buFont typeface="Arial" panose="020B0604020202020204" pitchFamily="34" charset="0"/>
              <a:buChar char="•"/>
            </a:pPr>
            <a:r>
              <a:rPr lang="en-US" dirty="0"/>
              <a:t>Data collection and preprocessing.</a:t>
            </a:r>
          </a:p>
          <a:p>
            <a:pPr marL="742950" lvl="1" indent="-285750" algn="just">
              <a:buFont typeface="Arial" panose="020B0604020202020204" pitchFamily="34" charset="0"/>
              <a:buChar char="•"/>
            </a:pPr>
            <a:r>
              <a:rPr lang="en-US" dirty="0"/>
              <a:t>Time series forecasting(ARIMA, Prophet and LSTM)</a:t>
            </a:r>
          </a:p>
          <a:p>
            <a:pPr marL="742950" lvl="1" indent="-285750" algn="just">
              <a:buFont typeface="Arial" panose="020B0604020202020204" pitchFamily="34" charset="0"/>
              <a:buChar char="•"/>
            </a:pPr>
            <a:r>
              <a:rPr lang="en-US" dirty="0"/>
              <a:t>Classification(Decision tree, Random forest)</a:t>
            </a:r>
          </a:p>
          <a:p>
            <a:pPr marL="742950" lvl="1" indent="-285750" algn="just">
              <a:buFont typeface="Arial" panose="020B0604020202020204" pitchFamily="34" charset="0"/>
              <a:buChar char="•"/>
            </a:pPr>
            <a:r>
              <a:rPr lang="en-US" dirty="0"/>
              <a:t>Conclusion</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 Data collection from recognized and established platforms to address the credibility of data concern: Merged multiple datasets from various statistical data sources:</a:t>
            </a:r>
          </a:p>
          <a:p>
            <a:pPr marL="742950" lvl="1" indent="-285750" algn="just">
              <a:buFont typeface="Arial" panose="020B0604020202020204" pitchFamily="34" charset="0"/>
              <a:buChar char="•"/>
            </a:pPr>
            <a:r>
              <a:rPr lang="en-US" dirty="0"/>
              <a:t>Disease outbreaks in the world, Covid19 data containing the new cases, cumulative cases, new deaths, cumulative deaths(sources: </a:t>
            </a:r>
            <a:r>
              <a:rPr lang="en-US" b="1" dirty="0"/>
              <a:t>WHO, Disease Control and Prevention (CDC)</a:t>
            </a:r>
            <a:r>
              <a:rPr lang="en-US" dirty="0"/>
              <a:t>). (~2lakh rows).</a:t>
            </a:r>
          </a:p>
          <a:p>
            <a:pPr marL="742950" lvl="1" indent="-285750" algn="just">
              <a:buFont typeface="Arial" panose="020B0604020202020204" pitchFamily="34" charset="0"/>
              <a:buChar char="•"/>
            </a:pPr>
            <a:r>
              <a:rPr lang="en-US" dirty="0"/>
              <a:t>Data on medical facilities, GDP, population density and infrastructure(Sources: </a:t>
            </a:r>
            <a:r>
              <a:rPr lang="en-US" b="1" dirty="0"/>
              <a:t>OECD, UN-Department of Economic and Social Affairs</a:t>
            </a:r>
            <a:r>
              <a:rPr lang="en-US" dirty="0"/>
              <a:t>).</a:t>
            </a:r>
          </a:p>
          <a:p>
            <a:pPr marL="285750" indent="-285750" algn="just">
              <a:buFont typeface="Arial" panose="020B0604020202020204" pitchFamily="34" charset="0"/>
              <a:buChar char="•"/>
            </a:pPr>
            <a:endParaRPr lang="en-US" dirty="0"/>
          </a:p>
          <a:p>
            <a:pPr marL="742950" lvl="1" indent="-285750" algn="just">
              <a:buFont typeface="Arial" panose="020B0604020202020204" pitchFamily="34" charset="0"/>
              <a:buChar char="•"/>
            </a:pPr>
            <a:endParaRPr lang="en-US" dirty="0"/>
          </a:p>
          <a:p>
            <a:pPr marL="742950" lvl="1"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IN" dirty="0"/>
          </a:p>
        </p:txBody>
      </p:sp>
    </p:spTree>
    <p:extLst>
      <p:ext uri="{BB962C8B-B14F-4D97-AF65-F5344CB8AC3E}">
        <p14:creationId xmlns:p14="http://schemas.microsoft.com/office/powerpoint/2010/main" val="1453656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580B-2F2A-4ED4-57D1-93649352EE96}"/>
              </a:ext>
            </a:extLst>
          </p:cNvPr>
          <p:cNvSpPr>
            <a:spLocks noGrp="1"/>
          </p:cNvSpPr>
          <p:nvPr>
            <p:ph type="title" idx="4294967295"/>
          </p:nvPr>
        </p:nvSpPr>
        <p:spPr>
          <a:xfrm>
            <a:off x="-1" y="127820"/>
            <a:ext cx="4699819" cy="471947"/>
          </a:xfrm>
        </p:spPr>
        <p:txBody>
          <a:bodyPr>
            <a:noAutofit/>
          </a:bodyPr>
          <a:lstStyle/>
          <a:p>
            <a:r>
              <a:rPr lang="en-IN" sz="2400" b="1" dirty="0"/>
              <a:t>Data description and preprocessing:</a:t>
            </a:r>
          </a:p>
        </p:txBody>
      </p:sp>
      <p:sp>
        <p:nvSpPr>
          <p:cNvPr id="5" name="TextBox 4">
            <a:extLst>
              <a:ext uri="{FF2B5EF4-FFF2-40B4-BE49-F238E27FC236}">
                <a16:creationId xmlns:a16="http://schemas.microsoft.com/office/drawing/2014/main" id="{DA6FE180-85B2-2345-A1DD-58B2F534B579}"/>
              </a:ext>
            </a:extLst>
          </p:cNvPr>
          <p:cNvSpPr txBox="1"/>
          <p:nvPr/>
        </p:nvSpPr>
        <p:spPr>
          <a:xfrm>
            <a:off x="0" y="887049"/>
            <a:ext cx="12113342" cy="5509200"/>
          </a:xfrm>
          <a:prstGeom prst="rect">
            <a:avLst/>
          </a:prstGeom>
          <a:noFill/>
        </p:spPr>
        <p:txBody>
          <a:bodyPr wrap="square">
            <a:spAutoFit/>
          </a:bodyPr>
          <a:lstStyle/>
          <a:p>
            <a:pPr marL="285750" indent="-285750">
              <a:buFont typeface="Arial" panose="020B0604020202020204" pitchFamily="34" charset="0"/>
              <a:buChar char="•"/>
            </a:pPr>
            <a:r>
              <a:rPr lang="en-IN" dirty="0"/>
              <a:t>Data files for Outbreaks, WHO-COVID-19-global-data, COVID-outbreaks, iso-codes were loaded which contained the data for </a:t>
            </a:r>
            <a:r>
              <a:rPr lang="en-IN" sz="1800" dirty="0"/>
              <a:t>information of the disease outbreaks in th</a:t>
            </a:r>
            <a:r>
              <a:rPr lang="en-IN" dirty="0"/>
              <a:t>e past </a:t>
            </a:r>
            <a:r>
              <a:rPr lang="en-IN" sz="1800" dirty="0"/>
              <a:t>based on country, </a:t>
            </a:r>
            <a:r>
              <a:rPr lang="en-US" sz="1800" dirty="0"/>
              <a:t>information of the new cases, total cases, total deaths based on country and date of data collection, information of the country code and region(continent). Preprocessing the data to deal with null values, missing data and wrong data. </a:t>
            </a:r>
          </a:p>
          <a:p>
            <a:pPr marL="285750" indent="-285750">
              <a:buFont typeface="Arial" panose="020B0604020202020204" pitchFamily="34" charset="0"/>
              <a:buChar char="•"/>
            </a:pPr>
            <a:r>
              <a:rPr lang="en-IN" dirty="0"/>
              <a:t>Created a consolidated data sets based on country, country iso code, date and year of outbreaks. </a:t>
            </a:r>
          </a:p>
          <a:p>
            <a:r>
              <a:rPr lang="en-IN" dirty="0"/>
              <a:t>		</a:t>
            </a:r>
          </a:p>
          <a:p>
            <a:endParaRPr lang="en-IN" sz="1800" dirty="0"/>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sz="1400" dirty="0"/>
              <a:t>graph to identify the total outbreaks per year worldwide                                                             </a:t>
            </a:r>
            <a:r>
              <a:rPr lang="en-US" sz="1400" dirty="0"/>
              <a:t>Stacked distribution of outbreaks over years by type of diseases</a:t>
            </a:r>
            <a:endParaRPr lang="en-IN" sz="1400"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lvl="8"/>
            <a:r>
              <a:rPr lang="en-IN" sz="1400" dirty="0"/>
              <a:t>       COVID-19 reported cases over time worldwide</a:t>
            </a:r>
          </a:p>
        </p:txBody>
      </p:sp>
      <p:pic>
        <p:nvPicPr>
          <p:cNvPr id="6" name="Picture 5">
            <a:extLst>
              <a:ext uri="{FF2B5EF4-FFF2-40B4-BE49-F238E27FC236}">
                <a16:creationId xmlns:a16="http://schemas.microsoft.com/office/drawing/2014/main" id="{4D15DC40-B6E2-B05D-66E3-4D2534C25CD2}"/>
              </a:ext>
            </a:extLst>
          </p:cNvPr>
          <p:cNvPicPr>
            <a:picLocks noChangeAspect="1"/>
          </p:cNvPicPr>
          <p:nvPr/>
        </p:nvPicPr>
        <p:blipFill rotWithShape="1">
          <a:blip r:embed="rId2"/>
          <a:srcRect l="821" t="1648" r="798"/>
          <a:stretch/>
        </p:blipFill>
        <p:spPr>
          <a:xfrm>
            <a:off x="542125" y="2357594"/>
            <a:ext cx="3615566" cy="1511711"/>
          </a:xfrm>
          <a:prstGeom prst="rect">
            <a:avLst/>
          </a:prstGeom>
        </p:spPr>
      </p:pic>
      <p:pic>
        <p:nvPicPr>
          <p:cNvPr id="7" name="Picture 6">
            <a:extLst>
              <a:ext uri="{FF2B5EF4-FFF2-40B4-BE49-F238E27FC236}">
                <a16:creationId xmlns:a16="http://schemas.microsoft.com/office/drawing/2014/main" id="{89583B52-909D-2397-2E1B-B132AA427871}"/>
              </a:ext>
            </a:extLst>
          </p:cNvPr>
          <p:cNvPicPr>
            <a:picLocks noChangeAspect="1"/>
          </p:cNvPicPr>
          <p:nvPr/>
        </p:nvPicPr>
        <p:blipFill>
          <a:blip r:embed="rId3"/>
          <a:stretch>
            <a:fillRect/>
          </a:stretch>
        </p:blipFill>
        <p:spPr>
          <a:xfrm>
            <a:off x="7127796" y="2414128"/>
            <a:ext cx="3913829" cy="1514169"/>
          </a:xfrm>
          <a:prstGeom prst="rect">
            <a:avLst/>
          </a:prstGeom>
        </p:spPr>
      </p:pic>
      <p:pic>
        <p:nvPicPr>
          <p:cNvPr id="8" name="Picture 7">
            <a:extLst>
              <a:ext uri="{FF2B5EF4-FFF2-40B4-BE49-F238E27FC236}">
                <a16:creationId xmlns:a16="http://schemas.microsoft.com/office/drawing/2014/main" id="{1378D3FE-686B-B085-E3BD-642E09604A04}"/>
              </a:ext>
            </a:extLst>
          </p:cNvPr>
          <p:cNvPicPr>
            <a:picLocks noChangeAspect="1"/>
          </p:cNvPicPr>
          <p:nvPr/>
        </p:nvPicPr>
        <p:blipFill>
          <a:blip r:embed="rId4"/>
          <a:stretch>
            <a:fillRect/>
          </a:stretch>
        </p:blipFill>
        <p:spPr>
          <a:xfrm>
            <a:off x="3922480" y="4156587"/>
            <a:ext cx="3205316" cy="1709502"/>
          </a:xfrm>
          <a:prstGeom prst="rect">
            <a:avLst/>
          </a:prstGeom>
        </p:spPr>
      </p:pic>
    </p:spTree>
    <p:extLst>
      <p:ext uri="{BB962C8B-B14F-4D97-AF65-F5344CB8AC3E}">
        <p14:creationId xmlns:p14="http://schemas.microsoft.com/office/powerpoint/2010/main" val="1409098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580B-2F2A-4ED4-57D1-93649352EE96}"/>
              </a:ext>
            </a:extLst>
          </p:cNvPr>
          <p:cNvSpPr>
            <a:spLocks noGrp="1"/>
          </p:cNvSpPr>
          <p:nvPr>
            <p:ph type="title" idx="4294967295"/>
          </p:nvPr>
        </p:nvSpPr>
        <p:spPr>
          <a:xfrm>
            <a:off x="-1" y="127820"/>
            <a:ext cx="4699819" cy="471947"/>
          </a:xfrm>
        </p:spPr>
        <p:txBody>
          <a:bodyPr>
            <a:noAutofit/>
          </a:bodyPr>
          <a:lstStyle/>
          <a:p>
            <a:r>
              <a:rPr lang="en-IN" sz="2400" b="1" dirty="0"/>
              <a:t>Prophet:</a:t>
            </a:r>
          </a:p>
        </p:txBody>
      </p:sp>
      <p:sp>
        <p:nvSpPr>
          <p:cNvPr id="4" name="TextBox 3">
            <a:extLst>
              <a:ext uri="{FF2B5EF4-FFF2-40B4-BE49-F238E27FC236}">
                <a16:creationId xmlns:a16="http://schemas.microsoft.com/office/drawing/2014/main" id="{036EA408-A472-CFEE-F8EE-BDB10C7B25F2}"/>
              </a:ext>
            </a:extLst>
          </p:cNvPr>
          <p:cNvSpPr txBox="1"/>
          <p:nvPr/>
        </p:nvSpPr>
        <p:spPr>
          <a:xfrm>
            <a:off x="0" y="739564"/>
            <a:ext cx="12113342" cy="2862322"/>
          </a:xfrm>
          <a:prstGeom prst="rect">
            <a:avLst/>
          </a:prstGeom>
          <a:noFill/>
        </p:spPr>
        <p:txBody>
          <a:bodyPr wrap="square">
            <a:spAutoFit/>
          </a:bodyPr>
          <a:lstStyle/>
          <a:p>
            <a:pPr marL="285750" indent="-285750" algn="just">
              <a:buFont typeface="Arial" panose="020B0604020202020204" pitchFamily="34" charset="0"/>
              <a:buChar char="•"/>
            </a:pPr>
            <a:r>
              <a:rPr lang="en-IN" dirty="0"/>
              <a:t>Prophet: </a:t>
            </a:r>
            <a:r>
              <a:rPr lang="en-US" dirty="0"/>
              <a:t>forecasting tool developed by Facebook for time series forecasting. Prophet deals with multiple seasonalities and irregular patterns. Reasons for implementing the prophet as it is capable of handling seasonality, and flexibility in incorporating external factors, unlike ARIMA which performs better for well-behaved time series data.</a:t>
            </a:r>
          </a:p>
          <a:p>
            <a:pPr marL="285750" indent="-285750" algn="just">
              <a:buFont typeface="Arial" panose="020B0604020202020204" pitchFamily="34" charset="0"/>
              <a:buChar char="•"/>
            </a:pPr>
            <a:r>
              <a:rPr lang="en-US" dirty="0"/>
              <a:t>The prophet model is fitted for the data (new cases). A new Data-Frame containing future dates necessary to make predictions is derived. Generates predictions for the future dates provided by the data-frame containing future dates.</a:t>
            </a:r>
          </a:p>
          <a:p>
            <a:pPr marL="285750" indent="-285750" algn="just">
              <a:buFont typeface="Arial" panose="020B0604020202020204" pitchFamily="34" charset="0"/>
              <a:buChar char="•"/>
            </a:pPr>
            <a:r>
              <a:rPr lang="en-IN" dirty="0"/>
              <a:t>To assess the performance of the prophet model predictions on the original training data cross validation and </a:t>
            </a:r>
            <a:r>
              <a:rPr lang="en-US" dirty="0"/>
              <a:t>performance metrics are carried out. Performance metrics is performed on cross validation data frame to  calculate the forecast accuracy metrics.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p:txBody>
      </p:sp>
      <p:sp>
        <p:nvSpPr>
          <p:cNvPr id="13" name="TextBox 12">
            <a:extLst>
              <a:ext uri="{FF2B5EF4-FFF2-40B4-BE49-F238E27FC236}">
                <a16:creationId xmlns:a16="http://schemas.microsoft.com/office/drawing/2014/main" id="{558BB3F3-1325-1896-B2F5-EE77DE1516DF}"/>
              </a:ext>
            </a:extLst>
          </p:cNvPr>
          <p:cNvSpPr txBox="1"/>
          <p:nvPr/>
        </p:nvSpPr>
        <p:spPr>
          <a:xfrm>
            <a:off x="239297" y="5876010"/>
            <a:ext cx="4861475" cy="307777"/>
          </a:xfrm>
          <a:prstGeom prst="rect">
            <a:avLst/>
          </a:prstGeom>
          <a:noFill/>
        </p:spPr>
        <p:txBody>
          <a:bodyPr wrap="square">
            <a:spAutoFit/>
          </a:bodyPr>
          <a:lstStyle/>
          <a:p>
            <a:pPr lvl="1" algn="ctr"/>
            <a:r>
              <a:rPr lang="en-IN" sz="1400" dirty="0"/>
              <a:t>Plot of forecast from prophet model date vs New cases</a:t>
            </a:r>
          </a:p>
        </p:txBody>
      </p:sp>
      <p:sp>
        <p:nvSpPr>
          <p:cNvPr id="16" name="TextBox 15">
            <a:extLst>
              <a:ext uri="{FF2B5EF4-FFF2-40B4-BE49-F238E27FC236}">
                <a16:creationId xmlns:a16="http://schemas.microsoft.com/office/drawing/2014/main" id="{972D9707-855F-49B6-B0A8-6AFD88F6A10A}"/>
              </a:ext>
            </a:extLst>
          </p:cNvPr>
          <p:cNvSpPr txBox="1"/>
          <p:nvPr/>
        </p:nvSpPr>
        <p:spPr>
          <a:xfrm>
            <a:off x="6020155" y="5885427"/>
            <a:ext cx="6058197" cy="523220"/>
          </a:xfrm>
          <a:prstGeom prst="rect">
            <a:avLst/>
          </a:prstGeom>
          <a:noFill/>
        </p:spPr>
        <p:txBody>
          <a:bodyPr wrap="square">
            <a:spAutoFit/>
          </a:bodyPr>
          <a:lstStyle/>
          <a:p>
            <a:pPr lvl="1" algn="ctr"/>
            <a:r>
              <a:rPr lang="en-IN" sz="1400" dirty="0"/>
              <a:t>Plot of forecast from prophet model with logarithmic operated data-set of date vs New cases</a:t>
            </a:r>
          </a:p>
        </p:txBody>
      </p:sp>
      <p:pic>
        <p:nvPicPr>
          <p:cNvPr id="3" name="Picture 2">
            <a:extLst>
              <a:ext uri="{FF2B5EF4-FFF2-40B4-BE49-F238E27FC236}">
                <a16:creationId xmlns:a16="http://schemas.microsoft.com/office/drawing/2014/main" id="{0256E06F-E7D6-E290-B4C8-240DF1BFBEED}"/>
              </a:ext>
            </a:extLst>
          </p:cNvPr>
          <p:cNvPicPr>
            <a:picLocks noChangeAspect="1"/>
          </p:cNvPicPr>
          <p:nvPr/>
        </p:nvPicPr>
        <p:blipFill>
          <a:blip r:embed="rId2"/>
          <a:stretch>
            <a:fillRect/>
          </a:stretch>
        </p:blipFill>
        <p:spPr>
          <a:xfrm>
            <a:off x="239298" y="3013688"/>
            <a:ext cx="4861475" cy="2868871"/>
          </a:xfrm>
          <a:prstGeom prst="rect">
            <a:avLst/>
          </a:prstGeom>
        </p:spPr>
      </p:pic>
      <p:pic>
        <p:nvPicPr>
          <p:cNvPr id="5" name="Picture 4">
            <a:extLst>
              <a:ext uri="{FF2B5EF4-FFF2-40B4-BE49-F238E27FC236}">
                <a16:creationId xmlns:a16="http://schemas.microsoft.com/office/drawing/2014/main" id="{4644C074-4423-CBBE-319B-EF5C145544D7}"/>
              </a:ext>
            </a:extLst>
          </p:cNvPr>
          <p:cNvPicPr>
            <a:picLocks noChangeAspect="1"/>
          </p:cNvPicPr>
          <p:nvPr/>
        </p:nvPicPr>
        <p:blipFill>
          <a:blip r:embed="rId3"/>
          <a:stretch>
            <a:fillRect/>
          </a:stretch>
        </p:blipFill>
        <p:spPr>
          <a:xfrm>
            <a:off x="6754761" y="3062195"/>
            <a:ext cx="4861474" cy="2820363"/>
          </a:xfrm>
          <a:prstGeom prst="rect">
            <a:avLst/>
          </a:prstGeom>
        </p:spPr>
      </p:pic>
    </p:spTree>
    <p:extLst>
      <p:ext uri="{BB962C8B-B14F-4D97-AF65-F5344CB8AC3E}">
        <p14:creationId xmlns:p14="http://schemas.microsoft.com/office/powerpoint/2010/main" val="1847860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580B-2F2A-4ED4-57D1-93649352EE96}"/>
              </a:ext>
            </a:extLst>
          </p:cNvPr>
          <p:cNvSpPr>
            <a:spLocks noGrp="1"/>
          </p:cNvSpPr>
          <p:nvPr>
            <p:ph type="title" idx="4294967295"/>
          </p:nvPr>
        </p:nvSpPr>
        <p:spPr>
          <a:xfrm>
            <a:off x="-1" y="127820"/>
            <a:ext cx="4699819" cy="471947"/>
          </a:xfrm>
        </p:spPr>
        <p:txBody>
          <a:bodyPr>
            <a:noAutofit/>
          </a:bodyPr>
          <a:lstStyle/>
          <a:p>
            <a:r>
              <a:rPr lang="en-IN" sz="2400" b="1" dirty="0"/>
              <a:t>ARIMA:</a:t>
            </a:r>
          </a:p>
        </p:txBody>
      </p:sp>
      <p:sp>
        <p:nvSpPr>
          <p:cNvPr id="4" name="TextBox 3">
            <a:extLst>
              <a:ext uri="{FF2B5EF4-FFF2-40B4-BE49-F238E27FC236}">
                <a16:creationId xmlns:a16="http://schemas.microsoft.com/office/drawing/2014/main" id="{036EA408-A472-CFEE-F8EE-BDB10C7B25F2}"/>
              </a:ext>
            </a:extLst>
          </p:cNvPr>
          <p:cNvSpPr txBox="1"/>
          <p:nvPr/>
        </p:nvSpPr>
        <p:spPr>
          <a:xfrm>
            <a:off x="0" y="739564"/>
            <a:ext cx="12113342" cy="2031325"/>
          </a:xfrm>
          <a:prstGeom prst="rect">
            <a:avLst/>
          </a:prstGeom>
          <a:noFill/>
        </p:spPr>
        <p:txBody>
          <a:bodyPr wrap="square">
            <a:spAutoFit/>
          </a:bodyPr>
          <a:lstStyle/>
          <a:p>
            <a:pPr marL="285750" indent="-285750" algn="just">
              <a:buFont typeface="Arial" panose="020B0604020202020204" pitchFamily="34" charset="0"/>
              <a:buChar char="•"/>
            </a:pPr>
            <a:r>
              <a:rPr lang="en-US" u="sng" dirty="0"/>
              <a:t>ARIMA</a:t>
            </a:r>
            <a:r>
              <a:rPr lang="en-US" dirty="0"/>
              <a:t> (AutoRegressive Integrated Moving Average): components autoregression, differencing, and moving averages. Autoregressive(AR) component represents the linear dependence of the current value on its past values(</a:t>
            </a:r>
            <a:r>
              <a:rPr lang="en-US" i="1" dirty="0"/>
              <a:t>p</a:t>
            </a:r>
            <a:r>
              <a:rPr lang="en-US" dirty="0"/>
              <a:t>) indicating the number of past observations to consider. Integrated component represents the differencing needed to make the time series stationary order of differencing is denoted by </a:t>
            </a:r>
            <a:r>
              <a:rPr lang="en-US" i="1" dirty="0"/>
              <a:t>d, </a:t>
            </a:r>
            <a:r>
              <a:rPr lang="en-US" dirty="0"/>
              <a:t>moving average component represents the linear dependence of the current value on past forecast errors, number of past errors to consider is denoted by </a:t>
            </a:r>
            <a:r>
              <a:rPr lang="en-US" i="1" dirty="0"/>
              <a:t>q. </a:t>
            </a:r>
            <a:r>
              <a:rPr lang="en-US" dirty="0"/>
              <a:t>ARIMA models are often built based on observed patterns in autocorrelation and partial autocorrelation functions. Dataset is distributed in [80:20] [</a:t>
            </a:r>
            <a:r>
              <a:rPr lang="en-US" dirty="0" err="1"/>
              <a:t>training:testing</a:t>
            </a:r>
            <a:r>
              <a:rPr lang="en-US" dirty="0"/>
              <a:t>].</a:t>
            </a:r>
          </a:p>
          <a:p>
            <a:pPr marL="285750" indent="-285750" algn="just">
              <a:buFont typeface="Arial" panose="020B0604020202020204" pitchFamily="34" charset="0"/>
              <a:buChar char="•"/>
            </a:pPr>
            <a:endParaRPr lang="en-US" dirty="0"/>
          </a:p>
        </p:txBody>
      </p:sp>
      <p:pic>
        <p:nvPicPr>
          <p:cNvPr id="9" name="Picture 8">
            <a:extLst>
              <a:ext uri="{FF2B5EF4-FFF2-40B4-BE49-F238E27FC236}">
                <a16:creationId xmlns:a16="http://schemas.microsoft.com/office/drawing/2014/main" id="{7C7DB348-9271-EAB9-3DF1-A20FAD264830}"/>
              </a:ext>
            </a:extLst>
          </p:cNvPr>
          <p:cNvPicPr>
            <a:picLocks noChangeAspect="1"/>
          </p:cNvPicPr>
          <p:nvPr/>
        </p:nvPicPr>
        <p:blipFill>
          <a:blip r:embed="rId2"/>
          <a:stretch>
            <a:fillRect/>
          </a:stretch>
        </p:blipFill>
        <p:spPr>
          <a:xfrm>
            <a:off x="629058" y="2642147"/>
            <a:ext cx="3042102" cy="2364097"/>
          </a:xfrm>
          <a:prstGeom prst="rect">
            <a:avLst/>
          </a:prstGeom>
        </p:spPr>
      </p:pic>
      <p:pic>
        <p:nvPicPr>
          <p:cNvPr id="10" name="Picture 9">
            <a:extLst>
              <a:ext uri="{FF2B5EF4-FFF2-40B4-BE49-F238E27FC236}">
                <a16:creationId xmlns:a16="http://schemas.microsoft.com/office/drawing/2014/main" id="{92441637-7179-BA4D-DFB1-838E2DDF52E2}"/>
              </a:ext>
            </a:extLst>
          </p:cNvPr>
          <p:cNvPicPr>
            <a:picLocks noChangeAspect="1"/>
          </p:cNvPicPr>
          <p:nvPr/>
        </p:nvPicPr>
        <p:blipFill>
          <a:blip r:embed="rId3"/>
          <a:stretch>
            <a:fillRect/>
          </a:stretch>
        </p:blipFill>
        <p:spPr>
          <a:xfrm>
            <a:off x="4300217" y="2642146"/>
            <a:ext cx="3080895" cy="2364098"/>
          </a:xfrm>
          <a:prstGeom prst="rect">
            <a:avLst/>
          </a:prstGeom>
        </p:spPr>
      </p:pic>
      <p:pic>
        <p:nvPicPr>
          <p:cNvPr id="11" name="Picture 10">
            <a:extLst>
              <a:ext uri="{FF2B5EF4-FFF2-40B4-BE49-F238E27FC236}">
                <a16:creationId xmlns:a16="http://schemas.microsoft.com/office/drawing/2014/main" id="{31761978-9FB4-76FA-DC6E-3169DC621FB1}"/>
              </a:ext>
            </a:extLst>
          </p:cNvPr>
          <p:cNvPicPr>
            <a:picLocks noChangeAspect="1"/>
          </p:cNvPicPr>
          <p:nvPr/>
        </p:nvPicPr>
        <p:blipFill rotWithShape="1">
          <a:blip r:embed="rId4"/>
          <a:srcRect l="2215"/>
          <a:stretch/>
        </p:blipFill>
        <p:spPr>
          <a:xfrm>
            <a:off x="8229037" y="2692932"/>
            <a:ext cx="3036380" cy="2276828"/>
          </a:xfrm>
          <a:prstGeom prst="rect">
            <a:avLst/>
          </a:prstGeom>
        </p:spPr>
      </p:pic>
      <p:sp>
        <p:nvSpPr>
          <p:cNvPr id="13" name="TextBox 12">
            <a:extLst>
              <a:ext uri="{FF2B5EF4-FFF2-40B4-BE49-F238E27FC236}">
                <a16:creationId xmlns:a16="http://schemas.microsoft.com/office/drawing/2014/main" id="{558BB3F3-1325-1896-B2F5-EE77DE1516DF}"/>
              </a:ext>
            </a:extLst>
          </p:cNvPr>
          <p:cNvSpPr txBox="1"/>
          <p:nvPr/>
        </p:nvSpPr>
        <p:spPr>
          <a:xfrm>
            <a:off x="393972" y="5006244"/>
            <a:ext cx="3294976" cy="523220"/>
          </a:xfrm>
          <a:prstGeom prst="rect">
            <a:avLst/>
          </a:prstGeom>
          <a:noFill/>
        </p:spPr>
        <p:txBody>
          <a:bodyPr wrap="square">
            <a:spAutoFit/>
          </a:bodyPr>
          <a:lstStyle/>
          <a:p>
            <a:pPr lvl="1" algn="ctr"/>
            <a:r>
              <a:rPr lang="en-IN" sz="1400" dirty="0"/>
              <a:t>ARIMA predictions for ‘New_cases’ and actual data</a:t>
            </a:r>
          </a:p>
        </p:txBody>
      </p:sp>
      <p:sp>
        <p:nvSpPr>
          <p:cNvPr id="15" name="TextBox 14">
            <a:extLst>
              <a:ext uri="{FF2B5EF4-FFF2-40B4-BE49-F238E27FC236}">
                <a16:creationId xmlns:a16="http://schemas.microsoft.com/office/drawing/2014/main" id="{01EAD631-C36F-44B4-CF98-8D9FD38FAA12}"/>
              </a:ext>
            </a:extLst>
          </p:cNvPr>
          <p:cNvSpPr txBox="1"/>
          <p:nvPr/>
        </p:nvSpPr>
        <p:spPr>
          <a:xfrm>
            <a:off x="3906246" y="5006244"/>
            <a:ext cx="3633018" cy="523220"/>
          </a:xfrm>
          <a:prstGeom prst="rect">
            <a:avLst/>
          </a:prstGeom>
          <a:noFill/>
        </p:spPr>
        <p:txBody>
          <a:bodyPr wrap="square">
            <a:spAutoFit/>
          </a:bodyPr>
          <a:lstStyle/>
          <a:p>
            <a:pPr lvl="1" algn="ctr"/>
            <a:r>
              <a:rPr lang="en-IN" sz="1400" dirty="0"/>
              <a:t>ARIMA predictions for differenced ‘New_cases’ and actual data</a:t>
            </a:r>
          </a:p>
        </p:txBody>
      </p:sp>
      <p:sp>
        <p:nvSpPr>
          <p:cNvPr id="16" name="TextBox 15">
            <a:extLst>
              <a:ext uri="{FF2B5EF4-FFF2-40B4-BE49-F238E27FC236}">
                <a16:creationId xmlns:a16="http://schemas.microsoft.com/office/drawing/2014/main" id="{972D9707-855F-49B6-B0A8-6AFD88F6A10A}"/>
              </a:ext>
            </a:extLst>
          </p:cNvPr>
          <p:cNvSpPr txBox="1"/>
          <p:nvPr/>
        </p:nvSpPr>
        <p:spPr>
          <a:xfrm>
            <a:off x="7775083" y="5006244"/>
            <a:ext cx="3633018" cy="738664"/>
          </a:xfrm>
          <a:prstGeom prst="rect">
            <a:avLst/>
          </a:prstGeom>
          <a:noFill/>
        </p:spPr>
        <p:txBody>
          <a:bodyPr wrap="square">
            <a:spAutoFit/>
          </a:bodyPr>
          <a:lstStyle/>
          <a:p>
            <a:pPr lvl="1" algn="ctr"/>
            <a:r>
              <a:rPr lang="en-IN" sz="1400" dirty="0"/>
              <a:t>ARIMA predictions for logarithmic operated-differenced ‘New_cases’ and actual data</a:t>
            </a:r>
          </a:p>
        </p:txBody>
      </p:sp>
    </p:spTree>
    <p:extLst>
      <p:ext uri="{BB962C8B-B14F-4D97-AF65-F5344CB8AC3E}">
        <p14:creationId xmlns:p14="http://schemas.microsoft.com/office/powerpoint/2010/main" val="3320063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580B-2F2A-4ED4-57D1-93649352EE96}"/>
              </a:ext>
            </a:extLst>
          </p:cNvPr>
          <p:cNvSpPr>
            <a:spLocks noGrp="1"/>
          </p:cNvSpPr>
          <p:nvPr>
            <p:ph type="title" idx="4294967295"/>
          </p:nvPr>
        </p:nvSpPr>
        <p:spPr>
          <a:xfrm>
            <a:off x="-1" y="127820"/>
            <a:ext cx="4699819" cy="471947"/>
          </a:xfrm>
        </p:spPr>
        <p:txBody>
          <a:bodyPr>
            <a:noAutofit/>
          </a:bodyPr>
          <a:lstStyle/>
          <a:p>
            <a:r>
              <a:rPr lang="en-IN" sz="2400" b="1" dirty="0"/>
              <a:t>LSTM (</a:t>
            </a:r>
            <a:r>
              <a:rPr lang="en-IN" sz="1800" b="1" dirty="0"/>
              <a:t>Long Short-Term Memory</a:t>
            </a:r>
            <a:r>
              <a:rPr lang="en-IN" sz="2400" b="1" dirty="0"/>
              <a:t>):</a:t>
            </a:r>
          </a:p>
        </p:txBody>
      </p:sp>
      <p:sp>
        <p:nvSpPr>
          <p:cNvPr id="4" name="TextBox 3">
            <a:extLst>
              <a:ext uri="{FF2B5EF4-FFF2-40B4-BE49-F238E27FC236}">
                <a16:creationId xmlns:a16="http://schemas.microsoft.com/office/drawing/2014/main" id="{036EA408-A472-CFEE-F8EE-BDB10C7B25F2}"/>
              </a:ext>
            </a:extLst>
          </p:cNvPr>
          <p:cNvSpPr txBox="1"/>
          <p:nvPr/>
        </p:nvSpPr>
        <p:spPr>
          <a:xfrm>
            <a:off x="0" y="739564"/>
            <a:ext cx="12113342" cy="2862322"/>
          </a:xfrm>
          <a:prstGeom prst="rect">
            <a:avLst/>
          </a:prstGeom>
          <a:noFill/>
        </p:spPr>
        <p:txBody>
          <a:bodyPr wrap="square">
            <a:spAutoFit/>
          </a:bodyPr>
          <a:lstStyle/>
          <a:p>
            <a:pPr marL="285750" indent="-285750" algn="just">
              <a:buFont typeface="Arial" panose="020B0604020202020204" pitchFamily="34" charset="0"/>
              <a:buChar char="•"/>
            </a:pPr>
            <a:r>
              <a:rPr lang="en-US" dirty="0"/>
              <a:t>LSTM(Long Short-Term Memory): Historical time series dataset, LSTMs are trained to predict future values. Training a model on historical time series data and using the trained model to make predictions for future time steps. LSTM is type of recurrent neural network (RNN) works best with  sequential prediction and long term dependency data alongside. Scaling of the data is done to maintain Consistent Model behavior by ensuring different features or variables in the time series data are on a similar scale and scaling also gives numerical stability. </a:t>
            </a:r>
          </a:p>
          <a:p>
            <a:pPr marL="285750" indent="-285750" algn="just">
              <a:buFont typeface="Arial" panose="020B0604020202020204" pitchFamily="34" charset="0"/>
              <a:buChar char="•"/>
            </a:pPr>
            <a:r>
              <a:rPr lang="en-US" dirty="0"/>
              <a:t>Data set matrix is generated from the array of values and is reshaped in-order to include features and timesteps. Sequential is used to develop neural networks layer by layer, this is suitable for feedforward neural networks, where information flows in one direction. Layers are defined: dropout-regularization technique used to prevent overfitting, dense-used for tasks such as classification or regression.</a:t>
            </a:r>
          </a:p>
          <a:p>
            <a:pPr marL="285750" indent="-285750" algn="just">
              <a:buFont typeface="Arial" panose="020B0604020202020204" pitchFamily="34" charset="0"/>
              <a:buChar char="•"/>
            </a:pPr>
            <a:endParaRPr lang="en-US" dirty="0"/>
          </a:p>
        </p:txBody>
      </p:sp>
      <p:sp>
        <p:nvSpPr>
          <p:cNvPr id="13" name="TextBox 12">
            <a:extLst>
              <a:ext uri="{FF2B5EF4-FFF2-40B4-BE49-F238E27FC236}">
                <a16:creationId xmlns:a16="http://schemas.microsoft.com/office/drawing/2014/main" id="{558BB3F3-1325-1896-B2F5-EE77DE1516DF}"/>
              </a:ext>
            </a:extLst>
          </p:cNvPr>
          <p:cNvSpPr txBox="1"/>
          <p:nvPr/>
        </p:nvSpPr>
        <p:spPr>
          <a:xfrm>
            <a:off x="-1" y="5885427"/>
            <a:ext cx="4861475" cy="307777"/>
          </a:xfrm>
          <a:prstGeom prst="rect">
            <a:avLst/>
          </a:prstGeom>
          <a:noFill/>
        </p:spPr>
        <p:txBody>
          <a:bodyPr wrap="square">
            <a:spAutoFit/>
          </a:bodyPr>
          <a:lstStyle/>
          <a:p>
            <a:pPr lvl="1" algn="ctr"/>
            <a:r>
              <a:rPr lang="en-IN" sz="1400" dirty="0"/>
              <a:t>Plot of Actual train data vs Predicted train data </a:t>
            </a:r>
          </a:p>
        </p:txBody>
      </p:sp>
      <p:sp>
        <p:nvSpPr>
          <p:cNvPr id="16" name="TextBox 15">
            <a:extLst>
              <a:ext uri="{FF2B5EF4-FFF2-40B4-BE49-F238E27FC236}">
                <a16:creationId xmlns:a16="http://schemas.microsoft.com/office/drawing/2014/main" id="{972D9707-855F-49B6-B0A8-6AFD88F6A10A}"/>
              </a:ext>
            </a:extLst>
          </p:cNvPr>
          <p:cNvSpPr txBox="1"/>
          <p:nvPr/>
        </p:nvSpPr>
        <p:spPr>
          <a:xfrm>
            <a:off x="6020155" y="5885427"/>
            <a:ext cx="6058197" cy="307777"/>
          </a:xfrm>
          <a:prstGeom prst="rect">
            <a:avLst/>
          </a:prstGeom>
          <a:noFill/>
        </p:spPr>
        <p:txBody>
          <a:bodyPr wrap="square">
            <a:spAutoFit/>
          </a:bodyPr>
          <a:lstStyle/>
          <a:p>
            <a:pPr lvl="1" algn="ctr"/>
            <a:r>
              <a:rPr lang="en-IN" sz="1400" dirty="0"/>
              <a:t>Plot of Actual train data vs Predicted train data </a:t>
            </a:r>
          </a:p>
        </p:txBody>
      </p:sp>
      <p:pic>
        <p:nvPicPr>
          <p:cNvPr id="6" name="Content Placeholder 4">
            <a:extLst>
              <a:ext uri="{FF2B5EF4-FFF2-40B4-BE49-F238E27FC236}">
                <a16:creationId xmlns:a16="http://schemas.microsoft.com/office/drawing/2014/main" id="{6B49279B-8C62-59DC-70A1-34A70769703F}"/>
              </a:ext>
            </a:extLst>
          </p:cNvPr>
          <p:cNvPicPr>
            <a:picLocks noChangeAspect="1"/>
          </p:cNvPicPr>
          <p:nvPr/>
        </p:nvPicPr>
        <p:blipFill>
          <a:blip r:embed="rId2"/>
          <a:stretch>
            <a:fillRect/>
          </a:stretch>
        </p:blipFill>
        <p:spPr>
          <a:xfrm>
            <a:off x="504139" y="3297325"/>
            <a:ext cx="4087525" cy="2588102"/>
          </a:xfrm>
          <a:prstGeom prst="rect">
            <a:avLst/>
          </a:prstGeom>
        </p:spPr>
      </p:pic>
      <p:pic>
        <p:nvPicPr>
          <p:cNvPr id="7" name="Picture 6">
            <a:extLst>
              <a:ext uri="{FF2B5EF4-FFF2-40B4-BE49-F238E27FC236}">
                <a16:creationId xmlns:a16="http://schemas.microsoft.com/office/drawing/2014/main" id="{AEC360EF-4816-64BC-F7DC-66CE85BB250F}"/>
              </a:ext>
            </a:extLst>
          </p:cNvPr>
          <p:cNvPicPr>
            <a:picLocks noChangeAspect="1"/>
          </p:cNvPicPr>
          <p:nvPr/>
        </p:nvPicPr>
        <p:blipFill>
          <a:blip r:embed="rId3"/>
          <a:stretch>
            <a:fillRect/>
          </a:stretch>
        </p:blipFill>
        <p:spPr>
          <a:xfrm>
            <a:off x="7330528" y="3297325"/>
            <a:ext cx="4076657" cy="2588102"/>
          </a:xfrm>
          <a:prstGeom prst="rect">
            <a:avLst/>
          </a:prstGeom>
        </p:spPr>
      </p:pic>
    </p:spTree>
    <p:extLst>
      <p:ext uri="{BB962C8B-B14F-4D97-AF65-F5344CB8AC3E}">
        <p14:creationId xmlns:p14="http://schemas.microsoft.com/office/powerpoint/2010/main" val="330508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580B-2F2A-4ED4-57D1-93649352EE96}"/>
              </a:ext>
            </a:extLst>
          </p:cNvPr>
          <p:cNvSpPr>
            <a:spLocks noGrp="1"/>
          </p:cNvSpPr>
          <p:nvPr>
            <p:ph type="title" idx="4294967295"/>
          </p:nvPr>
        </p:nvSpPr>
        <p:spPr>
          <a:xfrm>
            <a:off x="-1" y="127820"/>
            <a:ext cx="4699819" cy="471947"/>
          </a:xfrm>
        </p:spPr>
        <p:txBody>
          <a:bodyPr>
            <a:noAutofit/>
          </a:bodyPr>
          <a:lstStyle/>
          <a:p>
            <a:r>
              <a:rPr lang="en-IN" sz="2400" b="1" u="sng" dirty="0"/>
              <a:t>Decision Tree:</a:t>
            </a:r>
          </a:p>
        </p:txBody>
      </p:sp>
      <p:sp>
        <p:nvSpPr>
          <p:cNvPr id="5" name="TextBox 4">
            <a:extLst>
              <a:ext uri="{FF2B5EF4-FFF2-40B4-BE49-F238E27FC236}">
                <a16:creationId xmlns:a16="http://schemas.microsoft.com/office/drawing/2014/main" id="{5CBC103A-86F8-EBF4-C976-E10F10979222}"/>
              </a:ext>
            </a:extLst>
          </p:cNvPr>
          <p:cNvSpPr txBox="1"/>
          <p:nvPr/>
        </p:nvSpPr>
        <p:spPr>
          <a:xfrm>
            <a:off x="0" y="753802"/>
            <a:ext cx="12192000" cy="2031325"/>
          </a:xfrm>
          <a:prstGeom prst="rect">
            <a:avLst/>
          </a:prstGeom>
          <a:noFill/>
        </p:spPr>
        <p:txBody>
          <a:bodyPr wrap="square">
            <a:spAutoFit/>
          </a:bodyPr>
          <a:lstStyle/>
          <a:p>
            <a:pPr marL="285750" indent="-285750" algn="just">
              <a:buFont typeface="Arial" panose="020B0604020202020204" pitchFamily="34" charset="0"/>
              <a:buChar char="•"/>
            </a:pPr>
            <a:r>
              <a:rPr lang="en-US" dirty="0"/>
              <a:t> Machine learning model used for classification tasks by recursively partitioning. Decision tree is constructed based on a training dataset. </a:t>
            </a:r>
          </a:p>
          <a:p>
            <a:pPr marL="285750" indent="-285750" algn="just">
              <a:buFont typeface="Arial" panose="020B0604020202020204" pitchFamily="34" charset="0"/>
              <a:buChar char="•"/>
            </a:pPr>
            <a:r>
              <a:rPr lang="en-US" dirty="0"/>
              <a:t>The forecast data given by the LSTM model is used for classification of the countries into low risk, medium risk and high risk based on medical facilities and population density factors.</a:t>
            </a:r>
          </a:p>
          <a:p>
            <a:pPr marL="285750" indent="-285750" algn="just">
              <a:buFont typeface="Arial" panose="020B0604020202020204" pitchFamily="34" charset="0"/>
              <a:buChar char="•"/>
            </a:pPr>
            <a:r>
              <a:rPr lang="en-US" dirty="0"/>
              <a:t>For the chosen 10 countries where most number of covid 19 cases reported, the predicted risk levels for each country are described below in the heat map:</a:t>
            </a:r>
          </a:p>
          <a:p>
            <a:pPr marL="285750" indent="-285750" algn="just">
              <a:buFont typeface="Arial" panose="020B0604020202020204" pitchFamily="34" charset="0"/>
              <a:buChar char="•"/>
            </a:pPr>
            <a:endParaRPr lang="en-US" dirty="0"/>
          </a:p>
        </p:txBody>
      </p:sp>
      <p:pic>
        <p:nvPicPr>
          <p:cNvPr id="17" name="Picture 16">
            <a:extLst>
              <a:ext uri="{FF2B5EF4-FFF2-40B4-BE49-F238E27FC236}">
                <a16:creationId xmlns:a16="http://schemas.microsoft.com/office/drawing/2014/main" id="{736312EA-7F82-1105-084F-2A2B22D8DFC4}"/>
              </a:ext>
            </a:extLst>
          </p:cNvPr>
          <p:cNvPicPr>
            <a:picLocks noChangeAspect="1"/>
          </p:cNvPicPr>
          <p:nvPr/>
        </p:nvPicPr>
        <p:blipFill>
          <a:blip r:embed="rId2"/>
          <a:stretch>
            <a:fillRect/>
          </a:stretch>
        </p:blipFill>
        <p:spPr>
          <a:xfrm>
            <a:off x="3103395" y="2676973"/>
            <a:ext cx="5985209" cy="3583644"/>
          </a:xfrm>
          <a:prstGeom prst="rect">
            <a:avLst/>
          </a:prstGeom>
        </p:spPr>
      </p:pic>
    </p:spTree>
    <p:extLst>
      <p:ext uri="{BB962C8B-B14F-4D97-AF65-F5344CB8AC3E}">
        <p14:creationId xmlns:p14="http://schemas.microsoft.com/office/powerpoint/2010/main" val="515099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580B-2F2A-4ED4-57D1-93649352EE96}"/>
              </a:ext>
            </a:extLst>
          </p:cNvPr>
          <p:cNvSpPr>
            <a:spLocks noGrp="1"/>
          </p:cNvSpPr>
          <p:nvPr>
            <p:ph type="title" idx="4294967295"/>
          </p:nvPr>
        </p:nvSpPr>
        <p:spPr>
          <a:xfrm>
            <a:off x="-1" y="127820"/>
            <a:ext cx="4699819" cy="471947"/>
          </a:xfrm>
        </p:spPr>
        <p:txBody>
          <a:bodyPr>
            <a:noAutofit/>
          </a:bodyPr>
          <a:lstStyle/>
          <a:p>
            <a:r>
              <a:rPr lang="en-IN" sz="2400" b="1" u="sng" dirty="0"/>
              <a:t>Random Forest</a:t>
            </a:r>
            <a:r>
              <a:rPr lang="en-IN" sz="2400" b="1" dirty="0"/>
              <a:t>:</a:t>
            </a:r>
          </a:p>
        </p:txBody>
      </p:sp>
      <p:sp>
        <p:nvSpPr>
          <p:cNvPr id="6" name="TextBox 5">
            <a:extLst>
              <a:ext uri="{FF2B5EF4-FFF2-40B4-BE49-F238E27FC236}">
                <a16:creationId xmlns:a16="http://schemas.microsoft.com/office/drawing/2014/main" id="{6DEDDA26-57E1-960B-2945-940D671EC011}"/>
              </a:ext>
            </a:extLst>
          </p:cNvPr>
          <p:cNvSpPr txBox="1"/>
          <p:nvPr/>
        </p:nvSpPr>
        <p:spPr>
          <a:xfrm>
            <a:off x="-2" y="599766"/>
            <a:ext cx="12192001" cy="2031325"/>
          </a:xfrm>
          <a:prstGeom prst="rect">
            <a:avLst/>
          </a:prstGeom>
          <a:noFill/>
        </p:spPr>
        <p:txBody>
          <a:bodyPr wrap="square">
            <a:spAutoFit/>
          </a:bodyPr>
          <a:lstStyle/>
          <a:p>
            <a:pPr marL="285750" indent="-285750" algn="just">
              <a:buFont typeface="Arial" panose="020B0604020202020204" pitchFamily="34" charset="0"/>
              <a:buChar char="•"/>
            </a:pPr>
            <a:r>
              <a:rPr lang="en-US" dirty="0"/>
              <a:t>Method that operates by constructing a multitude of decision trees during training and outputs the class that is the mode of the classes (classification) or mean prediction (regression) of the individual trees.</a:t>
            </a:r>
          </a:p>
          <a:p>
            <a:pPr marL="285750" indent="-285750" algn="just">
              <a:buFont typeface="Arial" panose="020B0604020202020204" pitchFamily="34" charset="0"/>
              <a:buChar char="•"/>
            </a:pPr>
            <a:r>
              <a:rPr lang="en-US" dirty="0"/>
              <a:t>The forecast data given by the LSTM model is used for classification of the countries into low risk, medium risk and high risk based on medical facilities and population density factors.</a:t>
            </a:r>
          </a:p>
          <a:p>
            <a:pPr marL="285750" indent="-285750" algn="just">
              <a:buFont typeface="Arial" panose="020B0604020202020204" pitchFamily="34" charset="0"/>
              <a:buChar char="•"/>
            </a:pPr>
            <a:r>
              <a:rPr lang="en-US" dirty="0"/>
              <a:t>For the chosen 10 countries where most number of covid 19 cases reported, the predicted risk levels for each country are described below in the heat map:</a:t>
            </a:r>
          </a:p>
          <a:p>
            <a:pPr marL="285750" indent="-285750" algn="just">
              <a:buFont typeface="Arial" panose="020B0604020202020204" pitchFamily="34" charset="0"/>
              <a:buChar char="•"/>
            </a:pPr>
            <a:endParaRPr lang="en-IN" dirty="0"/>
          </a:p>
        </p:txBody>
      </p:sp>
      <p:pic>
        <p:nvPicPr>
          <p:cNvPr id="8" name="Picture 7">
            <a:extLst>
              <a:ext uri="{FF2B5EF4-FFF2-40B4-BE49-F238E27FC236}">
                <a16:creationId xmlns:a16="http://schemas.microsoft.com/office/drawing/2014/main" id="{497958E5-5145-8842-307F-EED65E24E155}"/>
              </a:ext>
            </a:extLst>
          </p:cNvPr>
          <p:cNvPicPr>
            <a:picLocks noChangeAspect="1"/>
          </p:cNvPicPr>
          <p:nvPr/>
        </p:nvPicPr>
        <p:blipFill>
          <a:blip r:embed="rId2"/>
          <a:stretch>
            <a:fillRect/>
          </a:stretch>
        </p:blipFill>
        <p:spPr>
          <a:xfrm>
            <a:off x="2920628" y="2496961"/>
            <a:ext cx="6350744" cy="3761273"/>
          </a:xfrm>
          <a:prstGeom prst="rect">
            <a:avLst/>
          </a:prstGeom>
        </p:spPr>
      </p:pic>
    </p:spTree>
    <p:extLst>
      <p:ext uri="{BB962C8B-B14F-4D97-AF65-F5344CB8AC3E}">
        <p14:creationId xmlns:p14="http://schemas.microsoft.com/office/powerpoint/2010/main" val="1147416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580B-2F2A-4ED4-57D1-93649352EE96}"/>
              </a:ext>
            </a:extLst>
          </p:cNvPr>
          <p:cNvSpPr>
            <a:spLocks noGrp="1"/>
          </p:cNvSpPr>
          <p:nvPr>
            <p:ph type="title" idx="4294967295"/>
          </p:nvPr>
        </p:nvSpPr>
        <p:spPr>
          <a:xfrm>
            <a:off x="-1" y="127820"/>
            <a:ext cx="4699819" cy="471947"/>
          </a:xfrm>
        </p:spPr>
        <p:txBody>
          <a:bodyPr>
            <a:noAutofit/>
          </a:bodyPr>
          <a:lstStyle/>
          <a:p>
            <a:r>
              <a:rPr lang="en-IN" sz="2400" b="1" u="sng" dirty="0"/>
              <a:t>Conclusion</a:t>
            </a:r>
            <a:r>
              <a:rPr lang="en-IN" sz="2400" b="1" dirty="0"/>
              <a:t>:</a:t>
            </a:r>
          </a:p>
        </p:txBody>
      </p:sp>
      <p:sp>
        <p:nvSpPr>
          <p:cNvPr id="6" name="TextBox 5">
            <a:extLst>
              <a:ext uri="{FF2B5EF4-FFF2-40B4-BE49-F238E27FC236}">
                <a16:creationId xmlns:a16="http://schemas.microsoft.com/office/drawing/2014/main" id="{B9DB3D5D-63D7-9EF8-38AB-5B48CC3B408B}"/>
              </a:ext>
            </a:extLst>
          </p:cNvPr>
          <p:cNvSpPr txBox="1"/>
          <p:nvPr/>
        </p:nvSpPr>
        <p:spPr>
          <a:xfrm>
            <a:off x="-2" y="749397"/>
            <a:ext cx="12192001" cy="2246769"/>
          </a:xfrm>
          <a:prstGeom prst="rect">
            <a:avLst/>
          </a:prstGeom>
          <a:noFill/>
        </p:spPr>
        <p:txBody>
          <a:bodyPr wrap="square">
            <a:spAutoFit/>
          </a:bodyPr>
          <a:lstStyle/>
          <a:p>
            <a:pPr marL="285750" indent="-285750" algn="just">
              <a:buFont typeface="Arial" panose="020B0604020202020204" pitchFamily="34" charset="0"/>
              <a:buChar char="•"/>
            </a:pPr>
            <a:r>
              <a:rPr lang="en-IN" sz="2000" dirty="0"/>
              <a:t>From performing the time series analysis using ARIMA, prophet, LSTM and studying the performance of the model forecast, based on the accuracy of the prediction LSTM gave more suitable and satisfactory results. With the prediction containing the data for next 30 days. Which can be used to identify the risk prone regions.</a:t>
            </a:r>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r>
              <a:rPr lang="en-IN" sz="2000" dirty="0"/>
              <a:t>From classifications using Decision tree and random forest. The results of the prediction from both the classifiers are moderately decent and working on the improving accuracy, precision recall and f1 score and also implementing the neural networks.</a:t>
            </a:r>
          </a:p>
        </p:txBody>
      </p:sp>
    </p:spTree>
    <p:extLst>
      <p:ext uri="{BB962C8B-B14F-4D97-AF65-F5344CB8AC3E}">
        <p14:creationId xmlns:p14="http://schemas.microsoft.com/office/powerpoint/2010/main" val="2242769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A17343-2318-B96D-9B90-5BDC71C7FD8A}"/>
              </a:ext>
            </a:extLst>
          </p:cNvPr>
          <p:cNvPicPr>
            <a:picLocks noChangeAspect="1"/>
          </p:cNvPicPr>
          <p:nvPr/>
        </p:nvPicPr>
        <p:blipFill>
          <a:blip r:embed="rId2"/>
          <a:stretch>
            <a:fillRect/>
          </a:stretch>
        </p:blipFill>
        <p:spPr>
          <a:xfrm>
            <a:off x="0" y="0"/>
            <a:ext cx="12192000" cy="6351639"/>
          </a:xfrm>
          <a:prstGeom prst="rect">
            <a:avLst/>
          </a:prstGeom>
        </p:spPr>
      </p:pic>
    </p:spTree>
    <p:extLst>
      <p:ext uri="{BB962C8B-B14F-4D97-AF65-F5344CB8AC3E}">
        <p14:creationId xmlns:p14="http://schemas.microsoft.com/office/powerpoint/2010/main" val="233248135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332</TotalTime>
  <Words>1166</Words>
  <Application>Microsoft Office PowerPoint</Application>
  <PresentationFormat>Widescreen</PresentationFormat>
  <Paragraphs>70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Retrospect</vt:lpstr>
      <vt:lpstr>Predicting Disease Outbreaks Using Time Series Forecasting and Classification</vt:lpstr>
      <vt:lpstr>  Agenda:</vt:lpstr>
      <vt:lpstr>Data description and preprocessing:</vt:lpstr>
      <vt:lpstr>Prophet:</vt:lpstr>
      <vt:lpstr>ARIMA:</vt:lpstr>
      <vt:lpstr>LSTM (Long Short-Term Memory):</vt:lpstr>
      <vt:lpstr>Decision Tree:</vt:lpstr>
      <vt:lpstr>Random Forest: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Disease Outbreaks Using Time Series Analysis and Classification</dc:title>
  <dc:creator>Jayanand R H</dc:creator>
  <cp:lastModifiedBy>Jayanand R H</cp:lastModifiedBy>
  <cp:revision>14</cp:revision>
  <dcterms:created xsi:type="dcterms:W3CDTF">2023-12-07T20:22:55Z</dcterms:created>
  <dcterms:modified xsi:type="dcterms:W3CDTF">2023-12-08T01:55:08Z</dcterms:modified>
</cp:coreProperties>
</file>