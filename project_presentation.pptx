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306D9B-FAB4-4CC6-9B18-ED6F357F0D2F}"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776B53-4D76-4B8A-9E73-FE6577040A5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869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06D9B-FAB4-4CC6-9B18-ED6F357F0D2F}"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1140665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06D9B-FAB4-4CC6-9B18-ED6F357F0D2F}"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776B53-4D76-4B8A-9E73-FE6577040A5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90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06D9B-FAB4-4CC6-9B18-ED6F357F0D2F}" type="datetimeFigureOut">
              <a:rPr lang="en-IN" smtClean="0"/>
              <a:t>07-12-2023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3069583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06D9B-FAB4-4CC6-9B18-ED6F357F0D2F}" type="datetimeFigureOut">
              <a:rPr lang="en-IN" smtClean="0"/>
              <a:t>07-12-2023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3535498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306D9B-FAB4-4CC6-9B18-ED6F357F0D2F}" type="datetimeFigureOut">
              <a:rPr lang="en-IN" smtClean="0"/>
              <a:t>07-12-2023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1882983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E306D9B-FAB4-4CC6-9B18-ED6F357F0D2F}" type="datetimeFigureOut">
              <a:rPr lang="en-IN" smtClean="0"/>
              <a:t>07-12-2023</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204078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E306D9B-FAB4-4CC6-9B18-ED6F357F0D2F}" type="datetimeFigureOut">
              <a:rPr lang="en-IN" smtClean="0"/>
              <a:t>07-12-2023</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776B53-4D76-4B8A-9E73-FE6577040A53}" type="slidenum">
              <a:rPr lang="en-IN" smtClean="0"/>
              <a:t>‹#›</a:t>
            </a:fld>
            <a:endParaRPr lang="en-IN"/>
          </a:p>
        </p:txBody>
      </p:sp>
    </p:spTree>
    <p:extLst>
      <p:ext uri="{BB962C8B-B14F-4D97-AF65-F5344CB8AC3E}">
        <p14:creationId xmlns:p14="http://schemas.microsoft.com/office/powerpoint/2010/main" val="3216491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306D9B-FAB4-4CC6-9B18-ED6F357F0D2F}" type="datetimeFigureOut">
              <a:rPr lang="en-IN" smtClean="0"/>
              <a:t>07-12-2023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4162765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06D9B-FAB4-4CC6-9B18-ED6F357F0D2F}"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1071459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06D9B-FAB4-4CC6-9B18-ED6F357F0D2F}" type="datetimeFigureOut">
              <a:rPr lang="en-IN" smtClean="0"/>
              <a:t>07-12-2023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776B53-4D76-4B8A-9E73-FE6577040A53}" type="slidenum">
              <a:rPr lang="en-IN" smtClean="0"/>
              <a:t>‹#›</a:t>
            </a:fld>
            <a:endParaRPr lang="en-IN"/>
          </a:p>
        </p:txBody>
      </p:sp>
    </p:spTree>
    <p:extLst>
      <p:ext uri="{BB962C8B-B14F-4D97-AF65-F5344CB8AC3E}">
        <p14:creationId xmlns:p14="http://schemas.microsoft.com/office/powerpoint/2010/main" val="4147267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E306D9B-FAB4-4CC6-9B18-ED6F357F0D2F}" type="datetimeFigureOut">
              <a:rPr lang="en-IN" smtClean="0"/>
              <a:t>07-12-2023</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776B53-4D76-4B8A-9E73-FE6577040A5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602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figshare.com/articles/dataset/A_global_dataset_of_pandemic-_and_epidemic-prone_disease_outbreaks/17207183/2"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CBEC-DA7E-B328-29E6-C7058236251A}"/>
              </a:ext>
            </a:extLst>
          </p:cNvPr>
          <p:cNvSpPr>
            <a:spLocks noGrp="1"/>
          </p:cNvSpPr>
          <p:nvPr>
            <p:ph type="ctrTitle"/>
          </p:nvPr>
        </p:nvSpPr>
        <p:spPr>
          <a:xfrm>
            <a:off x="762000" y="360471"/>
            <a:ext cx="10668000" cy="3068529"/>
          </a:xfrm>
        </p:spPr>
        <p:txBody>
          <a:bodyPr>
            <a:normAutofit fontScale="90000"/>
          </a:bodyPr>
          <a:lstStyle/>
          <a:p>
            <a:r>
              <a:rPr lang="en-US" b="1" dirty="0"/>
              <a:t>Predicting Disease Outbreaks Using Time Series Analysis and Classification</a:t>
            </a:r>
            <a:endParaRPr lang="en-IN" b="1" dirty="0"/>
          </a:p>
        </p:txBody>
      </p:sp>
      <p:sp>
        <p:nvSpPr>
          <p:cNvPr id="3" name="Subtitle 2">
            <a:extLst>
              <a:ext uri="{FF2B5EF4-FFF2-40B4-BE49-F238E27FC236}">
                <a16:creationId xmlns:a16="http://schemas.microsoft.com/office/drawing/2014/main" id="{C76B4A4B-9E6F-3BC3-A7D4-D38C89BFF115}"/>
              </a:ext>
            </a:extLst>
          </p:cNvPr>
          <p:cNvSpPr>
            <a:spLocks noGrp="1"/>
          </p:cNvSpPr>
          <p:nvPr>
            <p:ph type="subTitle" idx="1"/>
          </p:nvPr>
        </p:nvSpPr>
        <p:spPr>
          <a:xfrm>
            <a:off x="762000" y="4500027"/>
            <a:ext cx="7500857" cy="1605804"/>
          </a:xfrm>
        </p:spPr>
        <p:txBody>
          <a:bodyPr>
            <a:normAutofit fontScale="55000" lnSpcReduction="20000"/>
          </a:bodyPr>
          <a:lstStyle/>
          <a:p>
            <a:r>
              <a:rPr lang="en-IN" sz="6300" b="1" dirty="0">
                <a:solidFill>
                  <a:schemeClr val="tx1"/>
                </a:solidFill>
              </a:rPr>
              <a:t>Data Mining </a:t>
            </a:r>
          </a:p>
          <a:p>
            <a:br>
              <a:rPr lang="en-IN" dirty="0">
                <a:solidFill>
                  <a:schemeClr val="tx1"/>
                </a:solidFill>
              </a:rPr>
            </a:br>
            <a:r>
              <a:rPr lang="en-IN" sz="2500" dirty="0">
                <a:solidFill>
                  <a:schemeClr val="tx1"/>
                </a:solidFill>
              </a:rPr>
              <a:t>Aniket Ranjeet Sharma</a:t>
            </a:r>
          </a:p>
          <a:p>
            <a:r>
              <a:rPr lang="en-IN" sz="2500" dirty="0">
                <a:solidFill>
                  <a:schemeClr val="tx1"/>
                </a:solidFill>
              </a:rPr>
              <a:t>Jayanand Hiremath</a:t>
            </a:r>
          </a:p>
          <a:p>
            <a:r>
              <a:rPr lang="en-IN" sz="2500" dirty="0">
                <a:solidFill>
                  <a:schemeClr val="tx1"/>
                </a:solidFill>
              </a:rPr>
              <a:t>Preetham Reddy Vinnamala</a:t>
            </a:r>
          </a:p>
        </p:txBody>
      </p:sp>
    </p:spTree>
    <p:extLst>
      <p:ext uri="{BB962C8B-B14F-4D97-AF65-F5344CB8AC3E}">
        <p14:creationId xmlns:p14="http://schemas.microsoft.com/office/powerpoint/2010/main" val="3891427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97ECD-C731-3EE0-082D-55AE747D949D}"/>
              </a:ext>
            </a:extLst>
          </p:cNvPr>
          <p:cNvSpPr>
            <a:spLocks noGrp="1"/>
          </p:cNvSpPr>
          <p:nvPr>
            <p:ph type="title"/>
          </p:nvPr>
        </p:nvSpPr>
        <p:spPr/>
        <p:txBody>
          <a:bodyPr/>
          <a:lstStyle/>
          <a:p>
            <a:r>
              <a:rPr lang="en-IN" b="1" dirty="0"/>
              <a:t>Aim</a:t>
            </a:r>
          </a:p>
        </p:txBody>
      </p:sp>
      <p:sp>
        <p:nvSpPr>
          <p:cNvPr id="3" name="Content Placeholder 2">
            <a:extLst>
              <a:ext uri="{FF2B5EF4-FFF2-40B4-BE49-F238E27FC236}">
                <a16:creationId xmlns:a16="http://schemas.microsoft.com/office/drawing/2014/main" id="{9DCB9FDE-F718-CEBE-31BA-D903FB1995F9}"/>
              </a:ext>
            </a:extLst>
          </p:cNvPr>
          <p:cNvSpPr>
            <a:spLocks noGrp="1"/>
          </p:cNvSpPr>
          <p:nvPr>
            <p:ph idx="1"/>
          </p:nvPr>
        </p:nvSpPr>
        <p:spPr>
          <a:xfrm>
            <a:off x="1097279" y="1845734"/>
            <a:ext cx="10455623" cy="3847143"/>
          </a:xfrm>
        </p:spPr>
        <p:txBody>
          <a:bodyPr>
            <a:normAutofit/>
          </a:bodyPr>
          <a:lstStyle/>
          <a:p>
            <a:pPr algn="just">
              <a:buFont typeface="Arial" panose="020B0604020202020204" pitchFamily="34" charset="0"/>
              <a:buChar char="•"/>
            </a:pPr>
            <a:r>
              <a:rPr lang="en-US" dirty="0"/>
              <a:t>  </a:t>
            </a:r>
            <a:r>
              <a:rPr lang="en-US" sz="2400" dirty="0"/>
              <a:t>Project is intended to provide insights and predictions concerning potential future outbreaks.</a:t>
            </a:r>
          </a:p>
          <a:p>
            <a:pPr marL="0" indent="0" algn="just">
              <a:buNone/>
            </a:pPr>
            <a:endParaRPr lang="en-US" sz="2400" dirty="0"/>
          </a:p>
          <a:p>
            <a:pPr algn="just">
              <a:buFont typeface="Arial" panose="020B0604020202020204" pitchFamily="34" charset="0"/>
              <a:buChar char="•"/>
            </a:pPr>
            <a:r>
              <a:rPr lang="en-US" dirty="0"/>
              <a:t>  </a:t>
            </a:r>
            <a:r>
              <a:rPr lang="en-US" sz="2400" dirty="0"/>
              <a:t>Predictions of disease outbreaks aid in resource allocation, policymaking, and public health interventions.</a:t>
            </a:r>
          </a:p>
          <a:p>
            <a:pPr algn="just">
              <a:buFont typeface="Arial" panose="020B0604020202020204" pitchFamily="34" charset="0"/>
              <a:buChar char="•"/>
            </a:pPr>
            <a:endParaRPr lang="en-US" sz="2400" dirty="0"/>
          </a:p>
          <a:p>
            <a:pPr algn="just">
              <a:buFont typeface="Arial" panose="020B0604020202020204" pitchFamily="34" charset="0"/>
              <a:buChar char="•"/>
            </a:pPr>
            <a:r>
              <a:rPr lang="en-US" sz="2400" dirty="0"/>
              <a:t> Prediction models can be used to identify high-risk populations and target preventive measures - vaccination campaigns, health screenings, and educational programs.</a:t>
            </a:r>
          </a:p>
          <a:p>
            <a:pPr algn="just">
              <a:buFont typeface="Arial" panose="020B0604020202020204" pitchFamily="34" charset="0"/>
              <a:buChar char="•"/>
            </a:pPr>
            <a:endParaRPr lang="en-US" sz="2400" dirty="0"/>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2536810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83EE-23EA-B97A-8784-D7E0FDB72F7C}"/>
              </a:ext>
            </a:extLst>
          </p:cNvPr>
          <p:cNvSpPr>
            <a:spLocks noGrp="1"/>
          </p:cNvSpPr>
          <p:nvPr>
            <p:ph type="title"/>
          </p:nvPr>
        </p:nvSpPr>
        <p:spPr/>
        <p:txBody>
          <a:bodyPr/>
          <a:lstStyle/>
          <a:p>
            <a:r>
              <a:rPr lang="en-IN" b="1" dirty="0"/>
              <a:t>Brief</a:t>
            </a:r>
          </a:p>
        </p:txBody>
      </p:sp>
      <p:sp>
        <p:nvSpPr>
          <p:cNvPr id="3" name="Content Placeholder 2">
            <a:extLst>
              <a:ext uri="{FF2B5EF4-FFF2-40B4-BE49-F238E27FC236}">
                <a16:creationId xmlns:a16="http://schemas.microsoft.com/office/drawing/2014/main" id="{4F8D37F2-E1AB-4B03-3EEA-18EA729B9EA9}"/>
              </a:ext>
            </a:extLst>
          </p:cNvPr>
          <p:cNvSpPr>
            <a:spLocks noGrp="1"/>
          </p:cNvSpPr>
          <p:nvPr>
            <p:ph idx="1"/>
          </p:nvPr>
        </p:nvSpPr>
        <p:spPr/>
        <p:txBody>
          <a:bodyPr/>
          <a:lstStyle/>
          <a:p>
            <a:pPr algn="just">
              <a:buFont typeface="Arial" panose="020B0604020202020204" pitchFamily="34" charset="0"/>
              <a:buChar char="•"/>
            </a:pPr>
            <a:r>
              <a:rPr lang="en-IN" dirty="0"/>
              <a:t>  Data collection from recognized and established platforms to address the credibility of data concern. (sources: WHO, </a:t>
            </a:r>
            <a:r>
              <a:rPr lang="en-US" dirty="0"/>
              <a:t>Disease Control and Prevention (CDC)</a:t>
            </a:r>
            <a:r>
              <a:rPr lang="en-IN" dirty="0"/>
              <a:t>).</a:t>
            </a:r>
          </a:p>
          <a:p>
            <a:pPr algn="just">
              <a:buFont typeface="Arial" panose="020B0604020202020204" pitchFamily="34" charset="0"/>
              <a:buChar char="•"/>
            </a:pPr>
            <a:r>
              <a:rPr lang="en-IN" dirty="0"/>
              <a:t>  Preprocessing of the data to </a:t>
            </a:r>
            <a:r>
              <a:rPr lang="en-US" dirty="0"/>
              <a:t>ensure the integrity of the data. Accuracy, completeness, consistency, and validity of the data is paramount. (</a:t>
            </a:r>
            <a:r>
              <a:rPr lang="en-IN" dirty="0"/>
              <a:t>Handling Outliers, Missing Values, Data Consistency</a:t>
            </a:r>
            <a:r>
              <a:rPr lang="en-US" dirty="0"/>
              <a:t>).</a:t>
            </a:r>
          </a:p>
          <a:p>
            <a:pPr algn="just">
              <a:buFont typeface="Arial" panose="020B0604020202020204" pitchFamily="34" charset="0"/>
              <a:buChar char="•"/>
            </a:pPr>
            <a:r>
              <a:rPr lang="en-IN" dirty="0"/>
              <a:t>  Employed time series analysis to </a:t>
            </a:r>
            <a:r>
              <a:rPr lang="en-US" dirty="0"/>
              <a:t>reveal insights, patterns, and trends of the data ordered over time. Effective identification of past disease trends and predict future trajectories. (</a:t>
            </a:r>
            <a:r>
              <a:rPr lang="en-IN" dirty="0"/>
              <a:t>ARIMA &amp; SARIMA(Autoregressive Integrated Moving Average and seasonal ARIMA), Prophet, LSTM</a:t>
            </a:r>
            <a:r>
              <a:rPr lang="en-US" dirty="0"/>
              <a:t>).</a:t>
            </a:r>
          </a:p>
          <a:p>
            <a:pPr algn="just">
              <a:buFont typeface="Arial" panose="020B0604020202020204" pitchFamily="34" charset="0"/>
              <a:buChar char="•"/>
            </a:pPr>
            <a:r>
              <a:rPr lang="en-US" dirty="0"/>
              <a:t>  </a:t>
            </a:r>
            <a:r>
              <a:rPr lang="en-IN" dirty="0"/>
              <a:t>Classification process is essential </a:t>
            </a:r>
            <a:r>
              <a:rPr lang="en-US" dirty="0"/>
              <a:t>to leverage information, categorize regions </a:t>
            </a:r>
            <a:r>
              <a:rPr lang="en-IN" dirty="0"/>
              <a:t>or populations effectively </a:t>
            </a:r>
            <a:r>
              <a:rPr lang="en-US" dirty="0"/>
              <a:t>to create actionable insights and strategies. Features are studied and categorized under defined categories.(</a:t>
            </a:r>
            <a:r>
              <a:rPr lang="en-IN" dirty="0"/>
              <a:t>Decision Trees, Random Forest, Neural Networks</a:t>
            </a:r>
            <a:r>
              <a:rPr lang="en-US" dirty="0"/>
              <a:t>).</a:t>
            </a:r>
          </a:p>
        </p:txBody>
      </p:sp>
    </p:spTree>
    <p:extLst>
      <p:ext uri="{BB962C8B-B14F-4D97-AF65-F5344CB8AC3E}">
        <p14:creationId xmlns:p14="http://schemas.microsoft.com/office/powerpoint/2010/main" val="2012498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103C-BAE9-F271-604F-EAE1C447EF26}"/>
              </a:ext>
            </a:extLst>
          </p:cNvPr>
          <p:cNvSpPr>
            <a:spLocks noGrp="1"/>
          </p:cNvSpPr>
          <p:nvPr>
            <p:ph type="title"/>
          </p:nvPr>
        </p:nvSpPr>
        <p:spPr/>
        <p:txBody>
          <a:bodyPr/>
          <a:lstStyle/>
          <a:p>
            <a:r>
              <a:rPr lang="en-IN" b="1" dirty="0"/>
              <a:t>Approach</a:t>
            </a:r>
          </a:p>
        </p:txBody>
      </p:sp>
      <p:sp>
        <p:nvSpPr>
          <p:cNvPr id="3" name="Content Placeholder 2">
            <a:extLst>
              <a:ext uri="{FF2B5EF4-FFF2-40B4-BE49-F238E27FC236}">
                <a16:creationId xmlns:a16="http://schemas.microsoft.com/office/drawing/2014/main" id="{78680153-F59A-AB2A-91FA-C483E02BBF5F}"/>
              </a:ext>
            </a:extLst>
          </p:cNvPr>
          <p:cNvSpPr>
            <a:spLocks noGrp="1"/>
          </p:cNvSpPr>
          <p:nvPr>
            <p:ph idx="1"/>
          </p:nvPr>
        </p:nvSpPr>
        <p:spPr/>
        <p:txBody>
          <a:bodyPr/>
          <a:lstStyle/>
          <a:p>
            <a:pPr>
              <a:buFont typeface="Arial" panose="020B0604020202020204" pitchFamily="34" charset="0"/>
              <a:buChar char="•"/>
            </a:pPr>
            <a:r>
              <a:rPr lang="en-IN" dirty="0"/>
              <a:t>  Identified reliable and comprehensive data sources. (</a:t>
            </a:r>
            <a:r>
              <a:rPr lang="en-IN" dirty="0">
                <a:hlinkClick r:id="rId2"/>
              </a:rPr>
              <a:t>Disease Outbreak data</a:t>
            </a:r>
            <a:r>
              <a:rPr lang="en-IN" dirty="0"/>
              <a:t>).</a:t>
            </a:r>
          </a:p>
          <a:p>
            <a:pPr>
              <a:buFont typeface="Arial" panose="020B0604020202020204" pitchFamily="34" charset="0"/>
              <a:buChar char="•"/>
            </a:pPr>
            <a:r>
              <a:rPr lang="en-IN" dirty="0"/>
              <a:t>  Brief description on the files:</a:t>
            </a:r>
            <a:br>
              <a:rPr lang="en-IN" dirty="0"/>
            </a:br>
            <a:endParaRPr lang="en-IN" dirty="0"/>
          </a:p>
        </p:txBody>
      </p:sp>
      <p:graphicFrame>
        <p:nvGraphicFramePr>
          <p:cNvPr id="4" name="Table 3">
            <a:extLst>
              <a:ext uri="{FF2B5EF4-FFF2-40B4-BE49-F238E27FC236}">
                <a16:creationId xmlns:a16="http://schemas.microsoft.com/office/drawing/2014/main" id="{32BE06E8-2CF7-6380-F1CC-A77FB18518AC}"/>
              </a:ext>
            </a:extLst>
          </p:cNvPr>
          <p:cNvGraphicFramePr>
            <a:graphicFrameLocks noGrp="1"/>
          </p:cNvGraphicFramePr>
          <p:nvPr>
            <p:extLst>
              <p:ext uri="{D42A27DB-BD31-4B8C-83A1-F6EECF244321}">
                <p14:modId xmlns:p14="http://schemas.microsoft.com/office/powerpoint/2010/main" val="4040383733"/>
              </p:ext>
            </p:extLst>
          </p:nvPr>
        </p:nvGraphicFramePr>
        <p:xfrm>
          <a:off x="2377440" y="2746588"/>
          <a:ext cx="7498080" cy="3230880"/>
        </p:xfrm>
        <a:graphic>
          <a:graphicData uri="http://schemas.openxmlformats.org/drawingml/2006/table">
            <a:tbl>
              <a:tblPr firstRow="1" bandRow="1">
                <a:tableStyleId>{5C22544A-7EE6-4342-B048-85BDC9FD1C3A}</a:tableStyleId>
              </a:tblPr>
              <a:tblGrid>
                <a:gridCol w="3749040">
                  <a:extLst>
                    <a:ext uri="{9D8B030D-6E8A-4147-A177-3AD203B41FA5}">
                      <a16:colId xmlns:a16="http://schemas.microsoft.com/office/drawing/2014/main" val="1390140150"/>
                    </a:ext>
                  </a:extLst>
                </a:gridCol>
                <a:gridCol w="3749040">
                  <a:extLst>
                    <a:ext uri="{9D8B030D-6E8A-4147-A177-3AD203B41FA5}">
                      <a16:colId xmlns:a16="http://schemas.microsoft.com/office/drawing/2014/main" val="1595439265"/>
                    </a:ext>
                  </a:extLst>
                </a:gridCol>
              </a:tblGrid>
              <a:tr h="321939">
                <a:tc>
                  <a:txBody>
                    <a:bodyPr/>
                    <a:lstStyle/>
                    <a:p>
                      <a:pPr algn="ctr"/>
                      <a:r>
                        <a:rPr lang="en-IN" sz="1600" dirty="0"/>
                        <a:t>Files</a:t>
                      </a:r>
                    </a:p>
                  </a:txBody>
                  <a:tcPr/>
                </a:tc>
                <a:tc>
                  <a:txBody>
                    <a:bodyPr/>
                    <a:lstStyle/>
                    <a:p>
                      <a:pPr algn="ctr"/>
                      <a:r>
                        <a:rPr lang="en-IN" sz="1600" dirty="0"/>
                        <a:t>Description</a:t>
                      </a:r>
                    </a:p>
                  </a:txBody>
                  <a:tcPr/>
                </a:tc>
                <a:extLst>
                  <a:ext uri="{0D108BD9-81ED-4DB2-BD59-A6C34878D82A}">
                    <a16:rowId xmlns:a16="http://schemas.microsoft.com/office/drawing/2014/main" val="1161880637"/>
                  </a:ext>
                </a:extLst>
              </a:tr>
              <a:tr h="555676">
                <a:tc>
                  <a:txBody>
                    <a:bodyPr/>
                    <a:lstStyle/>
                    <a:p>
                      <a:r>
                        <a:rPr lang="en-IN" sz="1600" dirty="0" err="1"/>
                        <a:t>COVID_outbreaks</a:t>
                      </a:r>
                      <a:endParaRPr lang="en-IN" sz="1600" dirty="0"/>
                    </a:p>
                  </a:txBody>
                  <a:tcPr/>
                </a:tc>
                <a:tc>
                  <a:txBody>
                    <a:bodyPr/>
                    <a:lstStyle/>
                    <a:p>
                      <a:r>
                        <a:rPr lang="en-IN" sz="1600" dirty="0"/>
                        <a:t>Provides information of the countries affected by the virus.</a:t>
                      </a:r>
                    </a:p>
                  </a:txBody>
                  <a:tcPr/>
                </a:tc>
                <a:extLst>
                  <a:ext uri="{0D108BD9-81ED-4DB2-BD59-A6C34878D82A}">
                    <a16:rowId xmlns:a16="http://schemas.microsoft.com/office/drawing/2014/main" val="422295392"/>
                  </a:ext>
                </a:extLst>
              </a:tr>
              <a:tr h="321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err="1">
                          <a:solidFill>
                            <a:schemeClr val="dk1"/>
                          </a:solidFill>
                          <a:effectLst/>
                          <a:latin typeface="+mn-lt"/>
                          <a:ea typeface="+mn-ea"/>
                          <a:cs typeface="+mn-cs"/>
                        </a:rPr>
                        <a:t>DONsRaw</a:t>
                      </a:r>
                      <a:endParaRPr lang="en-IN" sz="1600" b="0" kern="1200" dirty="0">
                        <a:solidFill>
                          <a:schemeClr val="dk1"/>
                        </a:solidFill>
                        <a:effectLst/>
                        <a:latin typeface="+mn-lt"/>
                        <a:ea typeface="+mn-ea"/>
                        <a:cs typeface="+mn-cs"/>
                      </a:endParaRPr>
                    </a:p>
                  </a:txBody>
                  <a:tcPr/>
                </a:tc>
                <a:tc>
                  <a:txBody>
                    <a:bodyPr/>
                    <a:lstStyle/>
                    <a:p>
                      <a:endParaRPr lang="en-IN" sz="1600" dirty="0"/>
                    </a:p>
                  </a:txBody>
                  <a:tcPr/>
                </a:tc>
                <a:extLst>
                  <a:ext uri="{0D108BD9-81ED-4DB2-BD59-A6C34878D82A}">
                    <a16:rowId xmlns:a16="http://schemas.microsoft.com/office/drawing/2014/main" val="3139525225"/>
                  </a:ext>
                </a:extLst>
              </a:tr>
              <a:tr h="5556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err="1">
                          <a:solidFill>
                            <a:schemeClr val="dk1"/>
                          </a:solidFill>
                          <a:effectLst/>
                          <a:latin typeface="+mn-lt"/>
                          <a:ea typeface="+mn-ea"/>
                          <a:cs typeface="+mn-cs"/>
                        </a:rPr>
                        <a:t>isocodes</a:t>
                      </a:r>
                      <a:endParaRPr lang="en-IN" sz="1600" b="0" kern="1200" dirty="0">
                        <a:solidFill>
                          <a:schemeClr val="dk1"/>
                        </a:solidFill>
                        <a:effectLst/>
                        <a:latin typeface="+mn-lt"/>
                        <a:ea typeface="+mn-ea"/>
                        <a:cs typeface="+mn-cs"/>
                      </a:endParaRPr>
                    </a:p>
                  </a:txBody>
                  <a:tcPr/>
                </a:tc>
                <a:tc>
                  <a:txBody>
                    <a:bodyPr/>
                    <a:lstStyle/>
                    <a:p>
                      <a:r>
                        <a:rPr lang="en-IN" sz="1600" dirty="0"/>
                        <a:t>Provides information of the country code and region(continent).</a:t>
                      </a:r>
                    </a:p>
                  </a:txBody>
                  <a:tcPr/>
                </a:tc>
                <a:extLst>
                  <a:ext uri="{0D108BD9-81ED-4DB2-BD59-A6C34878D82A}">
                    <a16:rowId xmlns:a16="http://schemas.microsoft.com/office/drawing/2014/main" val="3600081268"/>
                  </a:ext>
                </a:extLst>
              </a:tr>
              <a:tr h="5556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effectLst/>
                          <a:latin typeface="+mn-lt"/>
                          <a:ea typeface="+mn-ea"/>
                          <a:cs typeface="+mn-cs"/>
                        </a:rPr>
                        <a:t>Outbreaks</a:t>
                      </a:r>
                    </a:p>
                  </a:txBody>
                  <a:tcPr/>
                </a:tc>
                <a:tc>
                  <a:txBody>
                    <a:bodyPr/>
                    <a:lstStyle/>
                    <a:p>
                      <a:r>
                        <a:rPr lang="en-IN" sz="1600" dirty="0"/>
                        <a:t>Provides information of the disease outbreaks till date based on country.</a:t>
                      </a:r>
                    </a:p>
                  </a:txBody>
                  <a:tcPr/>
                </a:tc>
                <a:extLst>
                  <a:ext uri="{0D108BD9-81ED-4DB2-BD59-A6C34878D82A}">
                    <a16:rowId xmlns:a16="http://schemas.microsoft.com/office/drawing/2014/main" val="970502526"/>
                  </a:ext>
                </a:extLst>
              </a:tr>
              <a:tr h="793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effectLst/>
                          <a:latin typeface="+mn-lt"/>
                          <a:ea typeface="+mn-ea"/>
                          <a:cs typeface="+mn-cs"/>
                        </a:rPr>
                        <a:t>WHO-COVID-19-global-data</a:t>
                      </a:r>
                    </a:p>
                  </a:txBody>
                  <a:tcPr/>
                </a:tc>
                <a:tc>
                  <a:txBody>
                    <a:bodyPr/>
                    <a:lstStyle/>
                    <a:p>
                      <a:r>
                        <a:rPr lang="en-IN" sz="1600" dirty="0"/>
                        <a:t>Provides information of the new cases, total cases, total deaths based on country and date of data collection.</a:t>
                      </a:r>
                    </a:p>
                  </a:txBody>
                  <a:tcPr/>
                </a:tc>
                <a:extLst>
                  <a:ext uri="{0D108BD9-81ED-4DB2-BD59-A6C34878D82A}">
                    <a16:rowId xmlns:a16="http://schemas.microsoft.com/office/drawing/2014/main" val="2049108524"/>
                  </a:ext>
                </a:extLst>
              </a:tr>
            </a:tbl>
          </a:graphicData>
        </a:graphic>
      </p:graphicFrame>
    </p:spTree>
    <p:extLst>
      <p:ext uri="{BB962C8B-B14F-4D97-AF65-F5344CB8AC3E}">
        <p14:creationId xmlns:p14="http://schemas.microsoft.com/office/powerpoint/2010/main" val="3635330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D0CD5-B3B1-380B-976F-FCC8D02FA684}"/>
              </a:ext>
            </a:extLst>
          </p:cNvPr>
          <p:cNvSpPr>
            <a:spLocks noGrp="1"/>
          </p:cNvSpPr>
          <p:nvPr>
            <p:ph type="title"/>
          </p:nvPr>
        </p:nvSpPr>
        <p:spPr>
          <a:xfrm>
            <a:off x="1066800" y="263527"/>
            <a:ext cx="10058400" cy="1450757"/>
          </a:xfrm>
        </p:spPr>
        <p:txBody>
          <a:bodyPr/>
          <a:lstStyle/>
          <a:p>
            <a:r>
              <a:rPr lang="en-IN" b="1" dirty="0"/>
              <a:t>Approach</a:t>
            </a:r>
            <a:endParaRPr lang="en-IN" dirty="0"/>
          </a:p>
        </p:txBody>
      </p:sp>
      <p:sp>
        <p:nvSpPr>
          <p:cNvPr id="3" name="Content Placeholder 2">
            <a:extLst>
              <a:ext uri="{FF2B5EF4-FFF2-40B4-BE49-F238E27FC236}">
                <a16:creationId xmlns:a16="http://schemas.microsoft.com/office/drawing/2014/main" id="{3D2498F2-965F-6B06-6243-79C534129516}"/>
              </a:ext>
            </a:extLst>
          </p:cNvPr>
          <p:cNvSpPr>
            <a:spLocks noGrp="1"/>
          </p:cNvSpPr>
          <p:nvPr>
            <p:ph idx="1"/>
          </p:nvPr>
        </p:nvSpPr>
        <p:spPr/>
        <p:txBody>
          <a:bodyPr/>
          <a:lstStyle/>
          <a:p>
            <a:pPr>
              <a:buFont typeface="Arial" panose="020B0604020202020204" pitchFamily="34" charset="0"/>
              <a:buChar char="•"/>
            </a:pPr>
            <a:r>
              <a:rPr lang="en-IN" dirty="0"/>
              <a:t>  Created a consolidated data sets based on country, country iso code, date and year of outbreaks.</a:t>
            </a:r>
          </a:p>
          <a:p>
            <a:pPr>
              <a:buFont typeface="Arial" panose="020B0604020202020204" pitchFamily="34" charset="0"/>
              <a:buChar char="•"/>
            </a:pPr>
            <a:r>
              <a:rPr lang="en-IN" dirty="0"/>
              <a:t>  Pre-processed the data to eliminate null values and missing data.</a:t>
            </a:r>
          </a:p>
          <a:p>
            <a:pPr>
              <a:buFont typeface="Arial" panose="020B0604020202020204" pitchFamily="34" charset="0"/>
              <a:buChar char="•"/>
            </a:pPr>
            <a:r>
              <a:rPr lang="en-IN" dirty="0"/>
              <a:t>  Plotted the graph to identify the total outbreaks per year worldwide:</a:t>
            </a:r>
          </a:p>
          <a:p>
            <a:pPr>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012E4A3E-6325-8A75-0048-05659E5353E5}"/>
              </a:ext>
            </a:extLst>
          </p:cNvPr>
          <p:cNvPicPr>
            <a:picLocks noChangeAspect="1"/>
          </p:cNvPicPr>
          <p:nvPr/>
        </p:nvPicPr>
        <p:blipFill>
          <a:blip r:embed="rId2"/>
          <a:stretch>
            <a:fillRect/>
          </a:stretch>
        </p:blipFill>
        <p:spPr>
          <a:xfrm>
            <a:off x="2740238" y="3334732"/>
            <a:ext cx="7072355" cy="2957913"/>
          </a:xfrm>
          <a:prstGeom prst="rect">
            <a:avLst/>
          </a:prstGeom>
        </p:spPr>
      </p:pic>
    </p:spTree>
    <p:extLst>
      <p:ext uri="{BB962C8B-B14F-4D97-AF65-F5344CB8AC3E}">
        <p14:creationId xmlns:p14="http://schemas.microsoft.com/office/powerpoint/2010/main" val="697464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67439-994D-7105-466F-37E7A01F5D54}"/>
              </a:ext>
            </a:extLst>
          </p:cNvPr>
          <p:cNvSpPr>
            <a:spLocks noGrp="1"/>
          </p:cNvSpPr>
          <p:nvPr>
            <p:ph type="title"/>
          </p:nvPr>
        </p:nvSpPr>
        <p:spPr/>
        <p:txBody>
          <a:bodyPr/>
          <a:lstStyle/>
          <a:p>
            <a:r>
              <a:rPr lang="en-IN" b="1" dirty="0"/>
              <a:t>Approach</a:t>
            </a:r>
            <a:endParaRPr lang="en-IN" dirty="0"/>
          </a:p>
        </p:txBody>
      </p:sp>
      <p:sp>
        <p:nvSpPr>
          <p:cNvPr id="3" name="Content Placeholder 2">
            <a:extLst>
              <a:ext uri="{FF2B5EF4-FFF2-40B4-BE49-F238E27FC236}">
                <a16:creationId xmlns:a16="http://schemas.microsoft.com/office/drawing/2014/main" id="{7B8E6584-221A-CCC1-639C-E042A1890B4C}"/>
              </a:ext>
            </a:extLst>
          </p:cNvPr>
          <p:cNvSpPr>
            <a:spLocks noGrp="1"/>
          </p:cNvSpPr>
          <p:nvPr>
            <p:ph idx="1"/>
          </p:nvPr>
        </p:nvSpPr>
        <p:spPr/>
        <p:txBody>
          <a:bodyPr/>
          <a:lstStyle/>
          <a:p>
            <a:pPr>
              <a:buFont typeface="Arial" panose="020B0604020202020204" pitchFamily="34" charset="0"/>
              <a:buChar char="•"/>
            </a:pPr>
            <a:r>
              <a:rPr lang="en-IN" dirty="0"/>
              <a:t>  </a:t>
            </a:r>
            <a:r>
              <a:rPr lang="en-US" dirty="0"/>
              <a:t>Stacked distribution of outbreaks over years by type of diseases: </a:t>
            </a:r>
          </a:p>
          <a:p>
            <a:pPr>
              <a:buFont typeface="Arial" panose="020B0604020202020204" pitchFamily="34" charset="0"/>
              <a:buChar char="•"/>
            </a:pPr>
            <a:endParaRPr lang="en-US" dirty="0"/>
          </a:p>
        </p:txBody>
      </p:sp>
      <p:pic>
        <p:nvPicPr>
          <p:cNvPr id="9" name="Picture 8">
            <a:extLst>
              <a:ext uri="{FF2B5EF4-FFF2-40B4-BE49-F238E27FC236}">
                <a16:creationId xmlns:a16="http://schemas.microsoft.com/office/drawing/2014/main" id="{252C1D4F-CD9A-9B9E-F16F-EAF3F7C73B6C}"/>
              </a:ext>
            </a:extLst>
          </p:cNvPr>
          <p:cNvPicPr>
            <a:picLocks noChangeAspect="1"/>
          </p:cNvPicPr>
          <p:nvPr/>
        </p:nvPicPr>
        <p:blipFill>
          <a:blip r:embed="rId2"/>
          <a:stretch>
            <a:fillRect/>
          </a:stretch>
        </p:blipFill>
        <p:spPr>
          <a:xfrm>
            <a:off x="1602659" y="2157550"/>
            <a:ext cx="8505340" cy="4150705"/>
          </a:xfrm>
          <a:prstGeom prst="rect">
            <a:avLst/>
          </a:prstGeom>
        </p:spPr>
      </p:pic>
    </p:spTree>
    <p:extLst>
      <p:ext uri="{BB962C8B-B14F-4D97-AF65-F5344CB8AC3E}">
        <p14:creationId xmlns:p14="http://schemas.microsoft.com/office/powerpoint/2010/main" val="4270609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8EB57-A5CA-AEFA-9DF8-6365A0D44B3B}"/>
              </a:ext>
            </a:extLst>
          </p:cNvPr>
          <p:cNvSpPr>
            <a:spLocks noGrp="1"/>
          </p:cNvSpPr>
          <p:nvPr>
            <p:ph type="title"/>
          </p:nvPr>
        </p:nvSpPr>
        <p:spPr/>
        <p:txBody>
          <a:bodyPr/>
          <a:lstStyle/>
          <a:p>
            <a:r>
              <a:rPr lang="en-IN" b="1" dirty="0"/>
              <a:t>Approach</a:t>
            </a:r>
            <a:endParaRPr lang="en-IN" dirty="0"/>
          </a:p>
        </p:txBody>
      </p:sp>
      <p:sp>
        <p:nvSpPr>
          <p:cNvPr id="3" name="Content Placeholder 2">
            <a:extLst>
              <a:ext uri="{FF2B5EF4-FFF2-40B4-BE49-F238E27FC236}">
                <a16:creationId xmlns:a16="http://schemas.microsoft.com/office/drawing/2014/main" id="{020BA101-2424-D590-FE3A-9698E03BEB1D}"/>
              </a:ext>
            </a:extLst>
          </p:cNvPr>
          <p:cNvSpPr>
            <a:spLocks noGrp="1"/>
          </p:cNvSpPr>
          <p:nvPr>
            <p:ph idx="1"/>
          </p:nvPr>
        </p:nvSpPr>
        <p:spPr/>
        <p:txBody>
          <a:bodyPr/>
          <a:lstStyle/>
          <a:p>
            <a:pPr>
              <a:buFont typeface="Arial" panose="020B0604020202020204" pitchFamily="34" charset="0"/>
              <a:buChar char="•"/>
            </a:pPr>
            <a:r>
              <a:rPr lang="en-IN" dirty="0"/>
              <a:t>  Eliminated incorrect data in the data frame.</a:t>
            </a:r>
          </a:p>
          <a:p>
            <a:pPr>
              <a:buFont typeface="Arial" panose="020B0604020202020204" pitchFamily="34" charset="0"/>
              <a:buChar char="•"/>
            </a:pPr>
            <a:r>
              <a:rPr lang="en-IN" dirty="0"/>
              <a:t>  Plotted new COVID-19 reported cases over time worldwide:  </a:t>
            </a:r>
          </a:p>
        </p:txBody>
      </p:sp>
      <p:pic>
        <p:nvPicPr>
          <p:cNvPr id="7" name="Picture 6">
            <a:extLst>
              <a:ext uri="{FF2B5EF4-FFF2-40B4-BE49-F238E27FC236}">
                <a16:creationId xmlns:a16="http://schemas.microsoft.com/office/drawing/2014/main" id="{92B83B51-B007-BCA9-25EA-553F710B63AF}"/>
              </a:ext>
            </a:extLst>
          </p:cNvPr>
          <p:cNvPicPr>
            <a:picLocks noChangeAspect="1"/>
          </p:cNvPicPr>
          <p:nvPr/>
        </p:nvPicPr>
        <p:blipFill>
          <a:blip r:embed="rId2"/>
          <a:stretch>
            <a:fillRect/>
          </a:stretch>
        </p:blipFill>
        <p:spPr>
          <a:xfrm>
            <a:off x="2757430" y="2616199"/>
            <a:ext cx="6677139" cy="3561141"/>
          </a:xfrm>
          <a:prstGeom prst="rect">
            <a:avLst/>
          </a:prstGeom>
        </p:spPr>
      </p:pic>
    </p:spTree>
    <p:extLst>
      <p:ext uri="{BB962C8B-B14F-4D97-AF65-F5344CB8AC3E}">
        <p14:creationId xmlns:p14="http://schemas.microsoft.com/office/powerpoint/2010/main" val="4018874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58C-005A-E57E-6008-E291C702C392}"/>
              </a:ext>
            </a:extLst>
          </p:cNvPr>
          <p:cNvSpPr>
            <a:spLocks noGrp="1"/>
          </p:cNvSpPr>
          <p:nvPr>
            <p:ph type="title"/>
          </p:nvPr>
        </p:nvSpPr>
        <p:spPr/>
        <p:txBody>
          <a:bodyPr/>
          <a:lstStyle/>
          <a:p>
            <a:r>
              <a:rPr lang="en-IN" b="1" dirty="0"/>
              <a:t>Approach</a:t>
            </a:r>
            <a:endParaRPr lang="en-IN" dirty="0"/>
          </a:p>
        </p:txBody>
      </p:sp>
      <p:sp>
        <p:nvSpPr>
          <p:cNvPr id="3" name="Content Placeholder 2">
            <a:extLst>
              <a:ext uri="{FF2B5EF4-FFF2-40B4-BE49-F238E27FC236}">
                <a16:creationId xmlns:a16="http://schemas.microsoft.com/office/drawing/2014/main" id="{A811D1DD-340B-3D14-1DB6-1DBF279EBFC1}"/>
              </a:ext>
            </a:extLst>
          </p:cNvPr>
          <p:cNvSpPr>
            <a:spLocks noGrp="1"/>
          </p:cNvSpPr>
          <p:nvPr>
            <p:ph idx="1"/>
          </p:nvPr>
        </p:nvSpPr>
        <p:spPr>
          <a:xfrm>
            <a:off x="1097280" y="1845733"/>
            <a:ext cx="10058400" cy="4505905"/>
          </a:xfrm>
        </p:spPr>
        <p:txBody>
          <a:bodyPr/>
          <a:lstStyle/>
          <a:p>
            <a:pPr>
              <a:buFont typeface="Arial" panose="020B0604020202020204" pitchFamily="34" charset="0"/>
              <a:buChar char="•"/>
            </a:pPr>
            <a:r>
              <a:rPr lang="en-IN" dirty="0"/>
              <a:t>  ADF test to test the </a:t>
            </a:r>
            <a:r>
              <a:rPr lang="en-US" dirty="0"/>
              <a:t>stationarity of a time series is done on ‘</a:t>
            </a:r>
            <a:r>
              <a:rPr lang="en-US" dirty="0" err="1"/>
              <a:t>new_cases</a:t>
            </a:r>
            <a:r>
              <a:rPr lang="en-US" dirty="0"/>
              <a:t>’ of covid19 data- this gives the ADF stat value and p-value. If p-value &lt;= 0.05: The time series is likely to be stationary(mean, variance, and autocorrelation do not change over time). </a:t>
            </a:r>
            <a:r>
              <a:rPr lang="en-US" dirty="0">
                <a:solidFill>
                  <a:srgbClr val="FFFF00"/>
                </a:solidFill>
              </a:rPr>
              <a:t>Obtained p-value from our test shown the time-series isn’t stationary.</a:t>
            </a:r>
          </a:p>
          <a:p>
            <a:pPr>
              <a:buFont typeface="Arial" panose="020B0604020202020204" pitchFamily="34" charset="0"/>
              <a:buChar char="•"/>
            </a:pPr>
            <a:r>
              <a:rPr lang="en-IN" dirty="0"/>
              <a:t> </a:t>
            </a:r>
            <a:r>
              <a:rPr lang="en-US" dirty="0"/>
              <a:t>Visualized the autocorrelation and partial autocorrelation essential for understanding the temporal dependencies within the data:</a:t>
            </a:r>
          </a:p>
        </p:txBody>
      </p:sp>
      <p:pic>
        <p:nvPicPr>
          <p:cNvPr id="5" name="Picture 4">
            <a:extLst>
              <a:ext uri="{FF2B5EF4-FFF2-40B4-BE49-F238E27FC236}">
                <a16:creationId xmlns:a16="http://schemas.microsoft.com/office/drawing/2014/main" id="{28AEFE21-C2F2-8799-B8C3-332D3B3333A6}"/>
              </a:ext>
            </a:extLst>
          </p:cNvPr>
          <p:cNvPicPr>
            <a:picLocks noChangeAspect="1"/>
          </p:cNvPicPr>
          <p:nvPr/>
        </p:nvPicPr>
        <p:blipFill>
          <a:blip r:embed="rId2"/>
          <a:stretch>
            <a:fillRect/>
          </a:stretch>
        </p:blipFill>
        <p:spPr>
          <a:xfrm>
            <a:off x="2198493" y="3834785"/>
            <a:ext cx="3102435" cy="2369370"/>
          </a:xfrm>
          <a:prstGeom prst="rect">
            <a:avLst/>
          </a:prstGeom>
        </p:spPr>
      </p:pic>
      <p:pic>
        <p:nvPicPr>
          <p:cNvPr id="7" name="Picture 6">
            <a:extLst>
              <a:ext uri="{FF2B5EF4-FFF2-40B4-BE49-F238E27FC236}">
                <a16:creationId xmlns:a16="http://schemas.microsoft.com/office/drawing/2014/main" id="{B287F2F0-2A31-E4B9-5AF3-C51FFB604615}"/>
              </a:ext>
            </a:extLst>
          </p:cNvPr>
          <p:cNvPicPr>
            <a:picLocks noChangeAspect="1"/>
          </p:cNvPicPr>
          <p:nvPr/>
        </p:nvPicPr>
        <p:blipFill>
          <a:blip r:embed="rId3"/>
          <a:stretch>
            <a:fillRect/>
          </a:stretch>
        </p:blipFill>
        <p:spPr>
          <a:xfrm>
            <a:off x="6540303" y="3834785"/>
            <a:ext cx="3122460" cy="2369370"/>
          </a:xfrm>
          <a:prstGeom prst="rect">
            <a:avLst/>
          </a:prstGeom>
        </p:spPr>
      </p:pic>
    </p:spTree>
    <p:extLst>
      <p:ext uri="{BB962C8B-B14F-4D97-AF65-F5344CB8AC3E}">
        <p14:creationId xmlns:p14="http://schemas.microsoft.com/office/powerpoint/2010/main" val="2934239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58C-005A-E57E-6008-E291C702C392}"/>
              </a:ext>
            </a:extLst>
          </p:cNvPr>
          <p:cNvSpPr>
            <a:spLocks noGrp="1"/>
          </p:cNvSpPr>
          <p:nvPr>
            <p:ph type="title"/>
          </p:nvPr>
        </p:nvSpPr>
        <p:spPr/>
        <p:txBody>
          <a:bodyPr/>
          <a:lstStyle/>
          <a:p>
            <a:r>
              <a:rPr lang="en-IN" b="1" dirty="0"/>
              <a:t>Approach</a:t>
            </a:r>
            <a:endParaRPr lang="en-IN" dirty="0"/>
          </a:p>
        </p:txBody>
      </p:sp>
      <p:sp>
        <p:nvSpPr>
          <p:cNvPr id="3" name="Content Placeholder 2">
            <a:extLst>
              <a:ext uri="{FF2B5EF4-FFF2-40B4-BE49-F238E27FC236}">
                <a16:creationId xmlns:a16="http://schemas.microsoft.com/office/drawing/2014/main" id="{A811D1DD-340B-3D14-1DB6-1DBF279EBFC1}"/>
              </a:ext>
            </a:extLst>
          </p:cNvPr>
          <p:cNvSpPr>
            <a:spLocks noGrp="1"/>
          </p:cNvSpPr>
          <p:nvPr>
            <p:ph idx="1"/>
          </p:nvPr>
        </p:nvSpPr>
        <p:spPr/>
        <p:txBody>
          <a:bodyPr/>
          <a:lstStyle/>
          <a:p>
            <a:pPr>
              <a:buFont typeface="Arial" panose="020B0604020202020204" pitchFamily="34" charset="0"/>
              <a:buChar char="•"/>
            </a:pPr>
            <a:r>
              <a:rPr lang="en-IN" dirty="0"/>
              <a:t>  To overcome the unsatisfactory acf and pacf plots on new cases, differencing is done </a:t>
            </a:r>
            <a:r>
              <a:rPr lang="en-US" dirty="0"/>
              <a:t>make the data potentially more stationary.</a:t>
            </a:r>
          </a:p>
          <a:p>
            <a:pPr>
              <a:buFont typeface="Arial" panose="020B0604020202020204" pitchFamily="34" charset="0"/>
              <a:buChar char="•"/>
            </a:pPr>
            <a:r>
              <a:rPr lang="en-US" dirty="0"/>
              <a:t> Dealt with introduction of NaN values from differencing by eliminating them:</a:t>
            </a:r>
          </a:p>
          <a:p>
            <a:pPr>
              <a:buFont typeface="Arial" panose="020B0604020202020204" pitchFamily="34" charset="0"/>
              <a:buChar char="•"/>
            </a:pPr>
            <a:r>
              <a:rPr lang="en-US" dirty="0"/>
              <a:t> acf and pacf plots on the differenced data:</a:t>
            </a:r>
          </a:p>
          <a:p>
            <a:pPr>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11D506DC-AC4F-4FC9-9111-D7F46815EF04}"/>
              </a:ext>
            </a:extLst>
          </p:cNvPr>
          <p:cNvPicPr>
            <a:picLocks noChangeAspect="1"/>
          </p:cNvPicPr>
          <p:nvPr/>
        </p:nvPicPr>
        <p:blipFill>
          <a:blip r:embed="rId2"/>
          <a:stretch>
            <a:fillRect/>
          </a:stretch>
        </p:blipFill>
        <p:spPr>
          <a:xfrm>
            <a:off x="1874029" y="3326171"/>
            <a:ext cx="3335522" cy="2542923"/>
          </a:xfrm>
          <a:prstGeom prst="rect">
            <a:avLst/>
          </a:prstGeom>
        </p:spPr>
      </p:pic>
      <p:pic>
        <p:nvPicPr>
          <p:cNvPr id="7" name="Picture 6">
            <a:extLst>
              <a:ext uri="{FF2B5EF4-FFF2-40B4-BE49-F238E27FC236}">
                <a16:creationId xmlns:a16="http://schemas.microsoft.com/office/drawing/2014/main" id="{CCAF859B-9493-101D-2E9A-84992D4017EE}"/>
              </a:ext>
            </a:extLst>
          </p:cNvPr>
          <p:cNvPicPr>
            <a:picLocks noChangeAspect="1"/>
          </p:cNvPicPr>
          <p:nvPr/>
        </p:nvPicPr>
        <p:blipFill>
          <a:blip r:embed="rId3"/>
          <a:stretch>
            <a:fillRect/>
          </a:stretch>
        </p:blipFill>
        <p:spPr>
          <a:xfrm>
            <a:off x="6598992" y="3326171"/>
            <a:ext cx="3335521" cy="2558175"/>
          </a:xfrm>
          <a:prstGeom prst="rect">
            <a:avLst/>
          </a:prstGeom>
        </p:spPr>
      </p:pic>
    </p:spTree>
    <p:extLst>
      <p:ext uri="{BB962C8B-B14F-4D97-AF65-F5344CB8AC3E}">
        <p14:creationId xmlns:p14="http://schemas.microsoft.com/office/powerpoint/2010/main" val="393840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58C-005A-E57E-6008-E291C702C392}"/>
              </a:ext>
            </a:extLst>
          </p:cNvPr>
          <p:cNvSpPr>
            <a:spLocks noGrp="1"/>
          </p:cNvSpPr>
          <p:nvPr>
            <p:ph type="title"/>
          </p:nvPr>
        </p:nvSpPr>
        <p:spPr/>
        <p:txBody>
          <a:bodyPr/>
          <a:lstStyle/>
          <a:p>
            <a:r>
              <a:rPr lang="en-IN" b="1" dirty="0"/>
              <a:t>ARIMA Approach</a:t>
            </a:r>
            <a:endParaRPr lang="en-IN" dirty="0"/>
          </a:p>
        </p:txBody>
      </p:sp>
      <p:sp>
        <p:nvSpPr>
          <p:cNvPr id="3" name="Content Placeholder 2">
            <a:extLst>
              <a:ext uri="{FF2B5EF4-FFF2-40B4-BE49-F238E27FC236}">
                <a16:creationId xmlns:a16="http://schemas.microsoft.com/office/drawing/2014/main" id="{A811D1DD-340B-3D14-1DB6-1DBF279EBFC1}"/>
              </a:ext>
            </a:extLst>
          </p:cNvPr>
          <p:cNvSpPr>
            <a:spLocks noGrp="1"/>
          </p:cNvSpPr>
          <p:nvPr>
            <p:ph idx="1"/>
          </p:nvPr>
        </p:nvSpPr>
        <p:spPr/>
        <p:txBody>
          <a:bodyPr>
            <a:normAutofit fontScale="92500" lnSpcReduction="10000"/>
          </a:bodyPr>
          <a:lstStyle/>
          <a:p>
            <a:pPr algn="just"/>
            <a:r>
              <a:rPr lang="en-IN" dirty="0"/>
              <a:t># ADD INFO ABOUT THE ADFULLER SUMMARY.</a:t>
            </a:r>
          </a:p>
          <a:p>
            <a:pPr algn="just">
              <a:buFont typeface="Arial" panose="020B0604020202020204" pitchFamily="34" charset="0"/>
              <a:buChar char="•"/>
            </a:pPr>
            <a:r>
              <a:rPr lang="en-IN" dirty="0"/>
              <a:t>  We performed the previous operations to identify and make the data stationary before applying ARIMA, because these model capture the temporal (time dependent) patterns and dependencies in stationary time series data set. </a:t>
            </a:r>
            <a:r>
              <a:rPr lang="en-US" dirty="0"/>
              <a:t>More steady and predictable patterns are seen in stationary time series, which results in more precise forecasts.</a:t>
            </a:r>
          </a:p>
          <a:p>
            <a:pPr algn="just">
              <a:buFont typeface="Arial" panose="020B0604020202020204" pitchFamily="34" charset="0"/>
              <a:buChar char="•"/>
            </a:pPr>
            <a:r>
              <a:rPr lang="en-US" dirty="0"/>
              <a:t>  Brief description on forecasting models ARIMA and SARIMA:</a:t>
            </a:r>
          </a:p>
          <a:p>
            <a:pPr algn="just">
              <a:buFont typeface="Arial" panose="020B0604020202020204" pitchFamily="34" charset="0"/>
              <a:buChar char="•"/>
            </a:pPr>
            <a:r>
              <a:rPr lang="en-US" u="sng" dirty="0"/>
              <a:t>ARIMA</a:t>
            </a:r>
            <a:r>
              <a:rPr lang="en-US" dirty="0"/>
              <a:t> (</a:t>
            </a:r>
            <a:r>
              <a:rPr lang="en-US" dirty="0" err="1"/>
              <a:t>AutoRegressive</a:t>
            </a:r>
            <a:r>
              <a:rPr lang="en-US" dirty="0"/>
              <a:t> Integrated Moving Average): components autoregression, differencing, and moving averages. Autoregressive(AR) component represents the linear dependence of the current value on its past values(</a:t>
            </a:r>
            <a:r>
              <a:rPr lang="en-US" i="1" dirty="0"/>
              <a:t>p</a:t>
            </a:r>
            <a:r>
              <a:rPr lang="en-US" dirty="0"/>
              <a:t>) indicating the number of past observations to consider. Integrated component represents the differencing needed to make the time series stationary order of differencing is denoted by </a:t>
            </a:r>
            <a:r>
              <a:rPr lang="en-US" i="1" dirty="0"/>
              <a:t>d, </a:t>
            </a:r>
            <a:r>
              <a:rPr lang="en-US" dirty="0"/>
              <a:t>moving average component represents the linear dependence of the current value on past forecast errors, number of past errors to consider is denoted by </a:t>
            </a:r>
            <a:r>
              <a:rPr lang="en-US" i="1" dirty="0"/>
              <a:t>q. </a:t>
            </a:r>
            <a:r>
              <a:rPr lang="en-US" dirty="0"/>
              <a:t>ARIMA models are often built based on observed patterns in autocorrelation and partial autocorrelation functions.</a:t>
            </a:r>
            <a:endParaRPr lang="en-IN" dirty="0"/>
          </a:p>
        </p:txBody>
      </p:sp>
    </p:spTree>
    <p:extLst>
      <p:ext uri="{BB962C8B-B14F-4D97-AF65-F5344CB8AC3E}">
        <p14:creationId xmlns:p14="http://schemas.microsoft.com/office/powerpoint/2010/main" val="2229506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58C-005A-E57E-6008-E291C702C392}"/>
              </a:ext>
            </a:extLst>
          </p:cNvPr>
          <p:cNvSpPr>
            <a:spLocks noGrp="1"/>
          </p:cNvSpPr>
          <p:nvPr>
            <p:ph type="title"/>
          </p:nvPr>
        </p:nvSpPr>
        <p:spPr/>
        <p:txBody>
          <a:bodyPr/>
          <a:lstStyle/>
          <a:p>
            <a:r>
              <a:rPr lang="en-IN" b="1" dirty="0"/>
              <a:t>ARIMA Approach</a:t>
            </a:r>
            <a:endParaRPr lang="en-IN" dirty="0"/>
          </a:p>
        </p:txBody>
      </p:sp>
      <p:sp>
        <p:nvSpPr>
          <p:cNvPr id="3" name="Content Placeholder 2">
            <a:extLst>
              <a:ext uri="{FF2B5EF4-FFF2-40B4-BE49-F238E27FC236}">
                <a16:creationId xmlns:a16="http://schemas.microsoft.com/office/drawing/2014/main" id="{A811D1DD-340B-3D14-1DB6-1DBF279EBFC1}"/>
              </a:ext>
            </a:extLst>
          </p:cNvPr>
          <p:cNvSpPr>
            <a:spLocks noGrp="1"/>
          </p:cNvSpPr>
          <p:nvPr>
            <p:ph idx="1"/>
          </p:nvPr>
        </p:nvSpPr>
        <p:spPr/>
        <p:txBody>
          <a:bodyPr/>
          <a:lstStyle/>
          <a:p>
            <a:pPr algn="just">
              <a:buFont typeface="Arial" panose="020B0604020202020204" pitchFamily="34" charset="0"/>
              <a:buChar char="•"/>
            </a:pPr>
            <a:r>
              <a:rPr lang="en-IN" dirty="0"/>
              <a:t> SARIMA(Seasonal ARIMA): </a:t>
            </a:r>
            <a:r>
              <a:rPr lang="en-US" dirty="0"/>
              <a:t>Extension of ARIMA that includes a seasonal component to handle data with periodic patterns, such as monthly or yearly seasonality. Components - SAR component represents the linear dependence on past seasonal values. The order is denoted by P. SI component represents the order of seasonal differencing. The order is denoted by D. SMA component represents the linear dependence on past seasonal forecast errors. The order is denoted by Q.</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 ARIMA model over the data-set gives the best model by providing integer values for each of the </a:t>
            </a:r>
            <a:r>
              <a:rPr lang="en-US" i="1" dirty="0" err="1"/>
              <a:t>p,d,q</a:t>
            </a:r>
            <a:r>
              <a:rPr lang="en-US" i="1" dirty="0"/>
              <a:t> </a:t>
            </a:r>
            <a:r>
              <a:rPr lang="en-US" dirty="0"/>
              <a:t>. </a:t>
            </a:r>
          </a:p>
          <a:p>
            <a:pPr algn="just">
              <a:buFont typeface="Arial" panose="020B0604020202020204" pitchFamily="34" charset="0"/>
              <a:buChar char="•"/>
            </a:pPr>
            <a:r>
              <a:rPr lang="en-US" i="1" dirty="0"/>
              <a:t> </a:t>
            </a:r>
            <a:r>
              <a:rPr lang="en-US" dirty="0"/>
              <a:t>Dataset is distributed in [80:20] [</a:t>
            </a:r>
            <a:r>
              <a:rPr lang="en-US" dirty="0" err="1"/>
              <a:t>training:testing</a:t>
            </a:r>
            <a:r>
              <a:rPr lang="en-US" dirty="0"/>
              <a:t>].</a:t>
            </a:r>
          </a:p>
          <a:p>
            <a:pPr marL="0" indent="0" algn="just">
              <a:buNone/>
            </a:pPr>
            <a:endParaRPr lang="en-IN" i="1" dirty="0"/>
          </a:p>
        </p:txBody>
      </p:sp>
    </p:spTree>
    <p:extLst>
      <p:ext uri="{BB962C8B-B14F-4D97-AF65-F5344CB8AC3E}">
        <p14:creationId xmlns:p14="http://schemas.microsoft.com/office/powerpoint/2010/main" val="1857092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58C-005A-E57E-6008-E291C702C392}"/>
              </a:ext>
            </a:extLst>
          </p:cNvPr>
          <p:cNvSpPr>
            <a:spLocks noGrp="1"/>
          </p:cNvSpPr>
          <p:nvPr>
            <p:ph type="title"/>
          </p:nvPr>
        </p:nvSpPr>
        <p:spPr/>
        <p:txBody>
          <a:bodyPr/>
          <a:lstStyle/>
          <a:p>
            <a:r>
              <a:rPr lang="en-IN" b="1" dirty="0"/>
              <a:t>ARIMA Approach</a:t>
            </a:r>
            <a:endParaRPr lang="en-IN" dirty="0"/>
          </a:p>
        </p:txBody>
      </p:sp>
      <p:sp>
        <p:nvSpPr>
          <p:cNvPr id="3" name="Content Placeholder 2">
            <a:extLst>
              <a:ext uri="{FF2B5EF4-FFF2-40B4-BE49-F238E27FC236}">
                <a16:creationId xmlns:a16="http://schemas.microsoft.com/office/drawing/2014/main" id="{A811D1DD-340B-3D14-1DB6-1DBF279EBFC1}"/>
              </a:ext>
            </a:extLst>
          </p:cNvPr>
          <p:cNvSpPr>
            <a:spLocks noGrp="1"/>
          </p:cNvSpPr>
          <p:nvPr>
            <p:ph idx="1"/>
          </p:nvPr>
        </p:nvSpPr>
        <p:spPr/>
        <p:txBody>
          <a:bodyPr>
            <a:normAutofit/>
          </a:bodyPr>
          <a:lstStyle/>
          <a:p>
            <a:pPr algn="just">
              <a:buFont typeface="Arial" panose="020B0604020202020204" pitchFamily="34" charset="0"/>
              <a:buChar char="•"/>
            </a:pPr>
            <a:r>
              <a:rPr lang="en-IN" dirty="0"/>
              <a:t>  ARIMA predictions vs new cases data was plotted:</a:t>
            </a:r>
          </a:p>
          <a:p>
            <a:pPr algn="just">
              <a:buFont typeface="Arial" panose="020B0604020202020204" pitchFamily="34" charset="0"/>
              <a:buChar char="•"/>
            </a:pPr>
            <a:endParaRPr lang="en-IN" dirty="0"/>
          </a:p>
          <a:p>
            <a:pPr algn="just">
              <a:buFont typeface="Arial" panose="020B0604020202020204" pitchFamily="34" charset="0"/>
              <a:buChar char="•"/>
            </a:pPr>
            <a:endParaRPr lang="en-IN" dirty="0"/>
          </a:p>
          <a:p>
            <a:pPr algn="just">
              <a:buFont typeface="Arial" panose="020B0604020202020204" pitchFamily="34" charset="0"/>
              <a:buChar char="•"/>
            </a:pPr>
            <a:endParaRPr lang="en-IN" dirty="0"/>
          </a:p>
          <a:p>
            <a:pPr algn="just">
              <a:buFont typeface="Arial" panose="020B0604020202020204" pitchFamily="34" charset="0"/>
              <a:buChar char="•"/>
            </a:pPr>
            <a:endParaRPr lang="en-IN" dirty="0"/>
          </a:p>
          <a:p>
            <a:pPr algn="just">
              <a:buFont typeface="Arial" panose="020B0604020202020204" pitchFamily="34" charset="0"/>
              <a:buChar char="•"/>
            </a:pPr>
            <a:endParaRPr lang="en-IN" dirty="0"/>
          </a:p>
          <a:p>
            <a:pPr algn="just">
              <a:buFont typeface="Arial" panose="020B0604020202020204" pitchFamily="34" charset="0"/>
              <a:buChar char="•"/>
            </a:pPr>
            <a:r>
              <a:rPr lang="en-IN" dirty="0"/>
              <a:t> To understand the reason for plot giving not best fit </a:t>
            </a:r>
            <a:r>
              <a:rPr lang="en-IN" sz="2000" dirty="0"/>
              <a:t>the training dataset parameters (mean and root mean square error) are calculated:</a:t>
            </a:r>
          </a:p>
          <a:p>
            <a:pPr algn="just">
              <a:buFont typeface="Arial" panose="020B0604020202020204" pitchFamily="34" charset="0"/>
              <a:buChar char="•"/>
            </a:pPr>
            <a:r>
              <a:rPr lang="en-IN" sz="2000" dirty="0"/>
              <a:t>The values obtained for the mean and the root mean square error were out of the spec.</a:t>
            </a:r>
          </a:p>
        </p:txBody>
      </p:sp>
      <p:pic>
        <p:nvPicPr>
          <p:cNvPr id="5" name="Picture 4">
            <a:extLst>
              <a:ext uri="{FF2B5EF4-FFF2-40B4-BE49-F238E27FC236}">
                <a16:creationId xmlns:a16="http://schemas.microsoft.com/office/drawing/2014/main" id="{4579F636-D285-6004-054E-89C7F6052E2D}"/>
              </a:ext>
            </a:extLst>
          </p:cNvPr>
          <p:cNvPicPr>
            <a:picLocks noChangeAspect="1"/>
          </p:cNvPicPr>
          <p:nvPr/>
        </p:nvPicPr>
        <p:blipFill>
          <a:blip r:embed="rId2"/>
          <a:stretch>
            <a:fillRect/>
          </a:stretch>
        </p:blipFill>
        <p:spPr>
          <a:xfrm>
            <a:off x="4574949" y="2150534"/>
            <a:ext cx="3042102" cy="2364097"/>
          </a:xfrm>
          <a:prstGeom prst="rect">
            <a:avLst/>
          </a:prstGeom>
        </p:spPr>
      </p:pic>
    </p:spTree>
    <p:extLst>
      <p:ext uri="{BB962C8B-B14F-4D97-AF65-F5344CB8AC3E}">
        <p14:creationId xmlns:p14="http://schemas.microsoft.com/office/powerpoint/2010/main" val="2230430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720A-1FB5-AFB5-1ABF-FE0BD8684BE7}"/>
              </a:ext>
            </a:extLst>
          </p:cNvPr>
          <p:cNvSpPr>
            <a:spLocks noGrp="1"/>
          </p:cNvSpPr>
          <p:nvPr>
            <p:ph type="title"/>
          </p:nvPr>
        </p:nvSpPr>
        <p:spPr/>
        <p:txBody>
          <a:bodyPr/>
          <a:lstStyle/>
          <a:p>
            <a:r>
              <a:rPr lang="en-IN" b="1" dirty="0"/>
              <a:t>ARIMA Approach</a:t>
            </a:r>
            <a:endParaRPr lang="en-IN" dirty="0"/>
          </a:p>
        </p:txBody>
      </p:sp>
      <p:sp>
        <p:nvSpPr>
          <p:cNvPr id="3" name="Content Placeholder 2">
            <a:extLst>
              <a:ext uri="{FF2B5EF4-FFF2-40B4-BE49-F238E27FC236}">
                <a16:creationId xmlns:a16="http://schemas.microsoft.com/office/drawing/2014/main" id="{E327A37F-55B4-9014-1936-7CF609379726}"/>
              </a:ext>
            </a:extLst>
          </p:cNvPr>
          <p:cNvSpPr>
            <a:spLocks noGrp="1"/>
          </p:cNvSpPr>
          <p:nvPr>
            <p:ph idx="1"/>
          </p:nvPr>
        </p:nvSpPr>
        <p:spPr/>
        <p:txBody>
          <a:bodyPr/>
          <a:lstStyle/>
          <a:p>
            <a:pPr>
              <a:buFont typeface="Arial" panose="020B0604020202020204" pitchFamily="34" charset="0"/>
              <a:buChar char="•"/>
            </a:pPr>
            <a:r>
              <a:rPr lang="en-IN" dirty="0"/>
              <a:t>  Differencing is done on the data of ‘new cases’ to improve the ARIMA model performance. The updated plot :</a:t>
            </a:r>
          </a:p>
          <a:p>
            <a:pPr marL="0" indent="0">
              <a:buNone/>
            </a:pPr>
            <a:endParaRPr lang="en-IN" dirty="0"/>
          </a:p>
        </p:txBody>
      </p:sp>
      <p:pic>
        <p:nvPicPr>
          <p:cNvPr id="5" name="Picture 4">
            <a:extLst>
              <a:ext uri="{FF2B5EF4-FFF2-40B4-BE49-F238E27FC236}">
                <a16:creationId xmlns:a16="http://schemas.microsoft.com/office/drawing/2014/main" id="{180B31C5-A9F0-CE8C-1D21-821D12B16F5F}"/>
              </a:ext>
            </a:extLst>
          </p:cNvPr>
          <p:cNvPicPr>
            <a:picLocks noChangeAspect="1"/>
          </p:cNvPicPr>
          <p:nvPr/>
        </p:nvPicPr>
        <p:blipFill>
          <a:blip r:embed="rId2"/>
          <a:stretch>
            <a:fillRect/>
          </a:stretch>
        </p:blipFill>
        <p:spPr>
          <a:xfrm>
            <a:off x="3637936" y="2216154"/>
            <a:ext cx="4760516" cy="3652940"/>
          </a:xfrm>
          <a:prstGeom prst="rect">
            <a:avLst/>
          </a:prstGeom>
        </p:spPr>
      </p:pic>
    </p:spTree>
    <p:extLst>
      <p:ext uri="{BB962C8B-B14F-4D97-AF65-F5344CB8AC3E}">
        <p14:creationId xmlns:p14="http://schemas.microsoft.com/office/powerpoint/2010/main" val="2226541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9DBE-F1A4-1FB5-CA8D-6F45352D6699}"/>
              </a:ext>
            </a:extLst>
          </p:cNvPr>
          <p:cNvSpPr>
            <a:spLocks noGrp="1"/>
          </p:cNvSpPr>
          <p:nvPr>
            <p:ph type="title"/>
          </p:nvPr>
        </p:nvSpPr>
        <p:spPr/>
        <p:txBody>
          <a:bodyPr/>
          <a:lstStyle/>
          <a:p>
            <a:r>
              <a:rPr lang="en-IN" b="1" dirty="0"/>
              <a:t>ARIMA Approach</a:t>
            </a:r>
            <a:endParaRPr lang="en-IN" dirty="0"/>
          </a:p>
        </p:txBody>
      </p:sp>
      <p:sp>
        <p:nvSpPr>
          <p:cNvPr id="3" name="Content Placeholder 2">
            <a:extLst>
              <a:ext uri="{FF2B5EF4-FFF2-40B4-BE49-F238E27FC236}">
                <a16:creationId xmlns:a16="http://schemas.microsoft.com/office/drawing/2014/main" id="{BFED9AFB-68FB-9DE8-7CDC-60CFB3B44432}"/>
              </a:ext>
            </a:extLst>
          </p:cNvPr>
          <p:cNvSpPr>
            <a:spLocks noGrp="1"/>
          </p:cNvSpPr>
          <p:nvPr>
            <p:ph idx="1"/>
          </p:nvPr>
        </p:nvSpPr>
        <p:spPr/>
        <p:txBody>
          <a:bodyPr/>
          <a:lstStyle/>
          <a:p>
            <a:pPr algn="just">
              <a:buFont typeface="Arial" panose="020B0604020202020204" pitchFamily="34" charset="0"/>
              <a:buChar char="•"/>
            </a:pPr>
            <a:r>
              <a:rPr lang="en-IN" dirty="0"/>
              <a:t>  The second plot of differenced data is much better than the first plot, but the results are still not satisfactory.</a:t>
            </a:r>
          </a:p>
          <a:p>
            <a:pPr algn="just">
              <a:buFont typeface="Arial" panose="020B0604020202020204" pitchFamily="34" charset="0"/>
              <a:buChar char="•"/>
            </a:pPr>
            <a:r>
              <a:rPr lang="en-IN" dirty="0"/>
              <a:t>  To improve the performance of ARIMA model logarithmic operation is performed on data set. The plot of ARIMA model predictions with the logarithmic function data vs </a:t>
            </a:r>
            <a:r>
              <a:rPr lang="en-IN" dirty="0" err="1"/>
              <a:t>log_new_cases</a:t>
            </a:r>
            <a:r>
              <a:rPr lang="en-IN" dirty="0"/>
              <a:t>:</a:t>
            </a:r>
          </a:p>
          <a:p>
            <a:pPr algn="just">
              <a:buFont typeface="Arial" panose="020B0604020202020204" pitchFamily="34" charset="0"/>
              <a:buChar char="•"/>
            </a:pPr>
            <a:endParaRPr lang="en-IN" dirty="0"/>
          </a:p>
          <a:p>
            <a:pPr marL="0" indent="0" algn="just">
              <a:buNone/>
            </a:pPr>
            <a:endParaRPr lang="en-IN" dirty="0"/>
          </a:p>
        </p:txBody>
      </p:sp>
      <p:pic>
        <p:nvPicPr>
          <p:cNvPr id="5" name="Picture 4">
            <a:extLst>
              <a:ext uri="{FF2B5EF4-FFF2-40B4-BE49-F238E27FC236}">
                <a16:creationId xmlns:a16="http://schemas.microsoft.com/office/drawing/2014/main" id="{076FF413-21BB-608B-0969-32C027907E66}"/>
              </a:ext>
            </a:extLst>
          </p:cNvPr>
          <p:cNvPicPr>
            <a:picLocks noChangeAspect="1"/>
          </p:cNvPicPr>
          <p:nvPr/>
        </p:nvPicPr>
        <p:blipFill rotWithShape="1">
          <a:blip r:embed="rId2"/>
          <a:srcRect l="2215"/>
          <a:stretch/>
        </p:blipFill>
        <p:spPr>
          <a:xfrm>
            <a:off x="4174692" y="3230025"/>
            <a:ext cx="3842616" cy="2881384"/>
          </a:xfrm>
          <a:prstGeom prst="rect">
            <a:avLst/>
          </a:prstGeom>
        </p:spPr>
      </p:pic>
    </p:spTree>
    <p:extLst>
      <p:ext uri="{BB962C8B-B14F-4D97-AF65-F5344CB8AC3E}">
        <p14:creationId xmlns:p14="http://schemas.microsoft.com/office/powerpoint/2010/main" val="3220679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Prophet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lgn="just">
              <a:buFont typeface="Arial" panose="020B0604020202020204" pitchFamily="34" charset="0"/>
              <a:buChar char="•"/>
            </a:pPr>
            <a:r>
              <a:rPr lang="en-IN" dirty="0"/>
              <a:t> Prophet: </a:t>
            </a:r>
            <a:r>
              <a:rPr lang="en-US" dirty="0"/>
              <a:t>forecasting tool developed by Facebook for time series forecasting. Prophet deals with multiple seasonalities and irregular patterns. Reasons for implementing the prophet as it is capable of handling seasonality, and flexibility in incorporating external factors, unlike ARIMA which performs better for well-behaved time series data.</a:t>
            </a:r>
          </a:p>
          <a:p>
            <a:pPr marL="0" indent="0" algn="just">
              <a:buNone/>
            </a:pPr>
            <a:endParaRPr lang="en-US" dirty="0"/>
          </a:p>
          <a:p>
            <a:pPr algn="just">
              <a:buFont typeface="Arial" panose="020B0604020202020204" pitchFamily="34" charset="0"/>
              <a:buChar char="•"/>
            </a:pPr>
            <a:r>
              <a:rPr lang="en-US" dirty="0"/>
              <a:t>  Implementing the prophet model: prophet model provides flexibility to provide instructions and information about the seasonalities. (Original data set of new cases is used).</a:t>
            </a:r>
          </a:p>
          <a:p>
            <a:pPr marL="0" indent="0" algn="just">
              <a:buNone/>
            </a:pPr>
            <a:endParaRPr lang="en-US" dirty="0"/>
          </a:p>
          <a:p>
            <a:pPr algn="just">
              <a:buFont typeface="Arial" panose="020B0604020202020204" pitchFamily="34" charset="0"/>
              <a:buChar char="•"/>
            </a:pPr>
            <a:r>
              <a:rPr lang="en-US" dirty="0"/>
              <a:t>  The prophet model is fitted for the data (new cases). A new Data-Frame containing future dates necessary to make predictions is derived. Generates predictions for the future dates provided by the data-frame containing future dates.</a:t>
            </a:r>
          </a:p>
          <a:p>
            <a:pPr marL="0" indent="0" algn="just">
              <a:buNone/>
            </a:pPr>
            <a:endParaRPr lang="en-IN" dirty="0"/>
          </a:p>
        </p:txBody>
      </p:sp>
    </p:spTree>
    <p:extLst>
      <p:ext uri="{BB962C8B-B14F-4D97-AF65-F5344CB8AC3E}">
        <p14:creationId xmlns:p14="http://schemas.microsoft.com/office/powerpoint/2010/main" val="316342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Prophet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buFont typeface="Arial" panose="020B0604020202020204" pitchFamily="34" charset="0"/>
              <a:buChar char="•"/>
            </a:pPr>
            <a:r>
              <a:rPr lang="en-IN" dirty="0"/>
              <a:t>  The plot below shows that the prediction from prophet model closely follows the original data set:</a:t>
            </a:r>
          </a:p>
          <a:p>
            <a:pPr>
              <a:buFont typeface="Arial" panose="020B0604020202020204" pitchFamily="34" charset="0"/>
              <a:buChar char="•"/>
            </a:pPr>
            <a:endParaRPr lang="en-IN" dirty="0"/>
          </a:p>
        </p:txBody>
      </p:sp>
      <p:pic>
        <p:nvPicPr>
          <p:cNvPr id="9" name="Picture 8">
            <a:extLst>
              <a:ext uri="{FF2B5EF4-FFF2-40B4-BE49-F238E27FC236}">
                <a16:creationId xmlns:a16="http://schemas.microsoft.com/office/drawing/2014/main" id="{BD5C9468-9268-3289-B4EC-42D11A9CF54E}"/>
              </a:ext>
            </a:extLst>
          </p:cNvPr>
          <p:cNvPicPr>
            <a:picLocks noChangeAspect="1"/>
          </p:cNvPicPr>
          <p:nvPr/>
        </p:nvPicPr>
        <p:blipFill>
          <a:blip r:embed="rId2"/>
          <a:stretch>
            <a:fillRect/>
          </a:stretch>
        </p:blipFill>
        <p:spPr>
          <a:xfrm>
            <a:off x="2614412" y="2212905"/>
            <a:ext cx="6963176" cy="4109134"/>
          </a:xfrm>
          <a:prstGeom prst="rect">
            <a:avLst/>
          </a:prstGeom>
        </p:spPr>
      </p:pic>
    </p:spTree>
    <p:extLst>
      <p:ext uri="{BB962C8B-B14F-4D97-AF65-F5344CB8AC3E}">
        <p14:creationId xmlns:p14="http://schemas.microsoft.com/office/powerpoint/2010/main" val="55740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Prophet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lgn="just">
              <a:buFont typeface="Arial" panose="020B0604020202020204" pitchFamily="34" charset="0"/>
              <a:buChar char="•"/>
            </a:pPr>
            <a:r>
              <a:rPr lang="en-IN" dirty="0"/>
              <a:t>  To assess the performance of the prophet model predictions on the original training data cross validation is done. Cross validation provides </a:t>
            </a:r>
            <a:r>
              <a:rPr lang="en-US" dirty="0"/>
              <a:t>a data-frame with predictions for each observation in the original time series, helping to study performance metrics of the prediction model. Performance metrics is performed on cross validation data frame to  calculate the forecast accuracy metrics. </a:t>
            </a:r>
          </a:p>
          <a:p>
            <a:pPr marL="0" indent="0" algn="just">
              <a:buNone/>
            </a:pPr>
            <a:endParaRPr lang="en-US" dirty="0"/>
          </a:p>
          <a:p>
            <a:pPr algn="just">
              <a:buFont typeface="Arial" panose="020B0604020202020204" pitchFamily="34" charset="0"/>
              <a:buChar char="•"/>
            </a:pPr>
            <a:r>
              <a:rPr lang="en-US" dirty="0"/>
              <a:t>  MAPE (Mean Absolute Percentage Error): measures the percentage difference between predicted and actual values, giving information of the accuracy of model's predictions. MAPE provides the average percentage error across all observations, a lower MAPE indicates better accuracy. To deduce more comprehensive evaluation Mean Squared Error (MSE) or Root Mean Squared Error (RMSE) may be used in conjunction with MAPE.</a:t>
            </a:r>
            <a:endParaRPr lang="en-IN" dirty="0"/>
          </a:p>
        </p:txBody>
      </p:sp>
    </p:spTree>
    <p:extLst>
      <p:ext uri="{BB962C8B-B14F-4D97-AF65-F5344CB8AC3E}">
        <p14:creationId xmlns:p14="http://schemas.microsoft.com/office/powerpoint/2010/main" val="3329277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Prophet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buFont typeface="Arial" panose="020B0604020202020204" pitchFamily="34" charset="0"/>
              <a:buChar char="•"/>
            </a:pPr>
            <a:r>
              <a:rPr lang="en-IN" dirty="0"/>
              <a:t>  MAPE value assessment of the Prophet model gives the inference that model is not accurate enough as MAPE value is high. Below plot gives MAPE value graph to test the prophet model accuracy :</a:t>
            </a:r>
            <a:br>
              <a:rPr lang="en-IN" dirty="0"/>
            </a:br>
            <a:endParaRPr lang="en-IN" dirty="0"/>
          </a:p>
          <a:p>
            <a:pPr marL="0" indent="0">
              <a:buNone/>
            </a:pPr>
            <a:endParaRPr lang="en-IN" dirty="0"/>
          </a:p>
        </p:txBody>
      </p:sp>
      <p:pic>
        <p:nvPicPr>
          <p:cNvPr id="5" name="Picture 4">
            <a:extLst>
              <a:ext uri="{FF2B5EF4-FFF2-40B4-BE49-F238E27FC236}">
                <a16:creationId xmlns:a16="http://schemas.microsoft.com/office/drawing/2014/main" id="{12444D39-EE14-9565-22E4-95C3114C1867}"/>
              </a:ext>
            </a:extLst>
          </p:cNvPr>
          <p:cNvPicPr>
            <a:picLocks noChangeAspect="1"/>
          </p:cNvPicPr>
          <p:nvPr/>
        </p:nvPicPr>
        <p:blipFill>
          <a:blip r:embed="rId2"/>
          <a:stretch>
            <a:fillRect/>
          </a:stretch>
        </p:blipFill>
        <p:spPr>
          <a:xfrm>
            <a:off x="1858682" y="2759186"/>
            <a:ext cx="8474636" cy="3109908"/>
          </a:xfrm>
          <a:prstGeom prst="rect">
            <a:avLst/>
          </a:prstGeom>
        </p:spPr>
      </p:pic>
    </p:spTree>
    <p:extLst>
      <p:ext uri="{BB962C8B-B14F-4D97-AF65-F5344CB8AC3E}">
        <p14:creationId xmlns:p14="http://schemas.microsoft.com/office/powerpoint/2010/main" val="1623351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Prophet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normAutofit/>
          </a:bodyPr>
          <a:lstStyle/>
          <a:p>
            <a:pPr algn="just">
              <a:buFont typeface="Arial" panose="020B0604020202020204" pitchFamily="34" charset="0"/>
              <a:buChar char="•"/>
            </a:pPr>
            <a:r>
              <a:rPr lang="en-IN" sz="1800" dirty="0"/>
              <a:t>  For improvement of Prophet model prediction, logarithmic operated data-set of ‘new-cases’ is fitted. </a:t>
            </a:r>
            <a:r>
              <a:rPr lang="en-US" sz="1800" dirty="0"/>
              <a:t>A new Data-Frame containing future dates necessary to make predictions is derived. Generates predictions for the future dates provided by the data-frame containing future dates.</a:t>
            </a:r>
          </a:p>
          <a:p>
            <a:pPr algn="just">
              <a:buFont typeface="Arial" panose="020B0604020202020204" pitchFamily="34" charset="0"/>
              <a:buChar char="•"/>
            </a:pPr>
            <a:r>
              <a:rPr lang="en-IN" sz="1800" dirty="0"/>
              <a:t> The plot below shows the forecast from prophet model with logarithmic operated data-set :</a:t>
            </a:r>
          </a:p>
        </p:txBody>
      </p:sp>
      <p:pic>
        <p:nvPicPr>
          <p:cNvPr id="5" name="Picture 4">
            <a:extLst>
              <a:ext uri="{FF2B5EF4-FFF2-40B4-BE49-F238E27FC236}">
                <a16:creationId xmlns:a16="http://schemas.microsoft.com/office/drawing/2014/main" id="{01E11D2A-5537-AC51-9BF9-B01B0779AA84}"/>
              </a:ext>
            </a:extLst>
          </p:cNvPr>
          <p:cNvPicPr>
            <a:picLocks noChangeAspect="1"/>
          </p:cNvPicPr>
          <p:nvPr/>
        </p:nvPicPr>
        <p:blipFill>
          <a:blip r:embed="rId2"/>
          <a:stretch>
            <a:fillRect/>
          </a:stretch>
        </p:blipFill>
        <p:spPr>
          <a:xfrm>
            <a:off x="3410699" y="3062735"/>
            <a:ext cx="5370602" cy="3286878"/>
          </a:xfrm>
          <a:prstGeom prst="rect">
            <a:avLst/>
          </a:prstGeom>
        </p:spPr>
      </p:pic>
    </p:spTree>
    <p:extLst>
      <p:ext uri="{BB962C8B-B14F-4D97-AF65-F5344CB8AC3E}">
        <p14:creationId xmlns:p14="http://schemas.microsoft.com/office/powerpoint/2010/main" val="2658942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Prophet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lgn="just">
              <a:buFont typeface="Arial" panose="020B0604020202020204" pitchFamily="34" charset="0"/>
              <a:buChar char="•"/>
            </a:pPr>
            <a:r>
              <a:rPr lang="en-IN" dirty="0"/>
              <a:t>  MAPE value assessment of the Prophet model for </a:t>
            </a:r>
            <a:r>
              <a:rPr lang="en-IN" sz="2000" dirty="0"/>
              <a:t>logarithmic operated data-set</a:t>
            </a:r>
            <a:r>
              <a:rPr lang="en-IN" dirty="0"/>
              <a:t> gives the inference that accuracy of forecast model is good as the value of MAPE is low. Below plot gives MAPE value graph to test the prophet model accuracy :</a:t>
            </a:r>
          </a:p>
        </p:txBody>
      </p:sp>
      <p:pic>
        <p:nvPicPr>
          <p:cNvPr id="5" name="Picture 4">
            <a:extLst>
              <a:ext uri="{FF2B5EF4-FFF2-40B4-BE49-F238E27FC236}">
                <a16:creationId xmlns:a16="http://schemas.microsoft.com/office/drawing/2014/main" id="{CFC8B40B-E35A-BA2B-C80E-74E9C0937251}"/>
              </a:ext>
            </a:extLst>
          </p:cNvPr>
          <p:cNvPicPr>
            <a:picLocks noChangeAspect="1"/>
          </p:cNvPicPr>
          <p:nvPr/>
        </p:nvPicPr>
        <p:blipFill>
          <a:blip r:embed="rId2"/>
          <a:stretch>
            <a:fillRect/>
          </a:stretch>
        </p:blipFill>
        <p:spPr>
          <a:xfrm>
            <a:off x="1692703" y="2864508"/>
            <a:ext cx="8806593" cy="3288935"/>
          </a:xfrm>
          <a:prstGeom prst="rect">
            <a:avLst/>
          </a:prstGeom>
        </p:spPr>
      </p:pic>
    </p:spTree>
    <p:extLst>
      <p:ext uri="{BB962C8B-B14F-4D97-AF65-F5344CB8AC3E}">
        <p14:creationId xmlns:p14="http://schemas.microsoft.com/office/powerpoint/2010/main" val="2648403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LSTM</a:t>
            </a:r>
            <a:r>
              <a:rPr lang="en-IN" dirty="0"/>
              <a:t> </a:t>
            </a:r>
            <a:r>
              <a:rPr lang="en-IN" b="1" dirty="0"/>
              <a:t>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lgn="just">
              <a:buFont typeface="Arial" panose="020B0604020202020204" pitchFamily="34" charset="0"/>
              <a:buChar char="•"/>
            </a:pPr>
            <a:r>
              <a:rPr lang="en-IN" dirty="0"/>
              <a:t>  LSTM(Long Short-Term Memory): </a:t>
            </a:r>
            <a:r>
              <a:rPr lang="en-US" dirty="0"/>
              <a:t>Historical time series dataset, LSTMs are trained to predict future values. Training a model on historical time series data and using the trained model to make predictions for future time steps. LSTM is type of recurrent neural network (RNN) works best with  sequential prediction and long term dependency data alongside. </a:t>
            </a:r>
          </a:p>
          <a:p>
            <a:pPr algn="just">
              <a:buFont typeface="Arial" panose="020B0604020202020204" pitchFamily="34" charset="0"/>
              <a:buChar char="•"/>
            </a:pPr>
            <a:r>
              <a:rPr lang="en-US" dirty="0"/>
              <a:t>  Employing the LSTM for ‘new-cases’. Scaling of the data is done to maintain Consistent Model behavior by ensuring different features or variables in the time series data are on a similar scale and scaling also gives numerical stability.  The model is trained by 80% of the dataset(training dataset).</a:t>
            </a:r>
          </a:p>
          <a:p>
            <a:pPr algn="just">
              <a:buFont typeface="Arial" panose="020B0604020202020204" pitchFamily="34" charset="0"/>
              <a:buChar char="•"/>
            </a:pPr>
            <a:r>
              <a:rPr lang="en-US" dirty="0"/>
              <a:t>  Data set matrix is generated from the array of values and is reshaped in-order to include features and timesteps. Sequential is used to develop neural networks layer by layer, this is suitable for feedforward neural networks, where information flows in one direction. Layers are defined: dropout-regularization technique used to prevent overfitting, dense-used for tasks such as classification or regression.</a:t>
            </a:r>
            <a:endParaRPr lang="en-IN" dirty="0"/>
          </a:p>
        </p:txBody>
      </p:sp>
    </p:spTree>
    <p:extLst>
      <p:ext uri="{BB962C8B-B14F-4D97-AF65-F5344CB8AC3E}">
        <p14:creationId xmlns:p14="http://schemas.microsoft.com/office/powerpoint/2010/main" val="3421595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LSTM 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pPr>
              <a:buFont typeface="Arial" panose="020B0604020202020204" pitchFamily="34" charset="0"/>
              <a:buChar char="•"/>
            </a:pPr>
            <a:r>
              <a:rPr lang="en-IN" dirty="0"/>
              <a:t>  Fitted model is used to make predictions for both the training dataset and testing dataset. </a:t>
            </a:r>
          </a:p>
          <a:p>
            <a:pPr>
              <a:buFont typeface="Arial" panose="020B0604020202020204" pitchFamily="34" charset="0"/>
              <a:buChar char="•"/>
            </a:pPr>
            <a:endParaRPr lang="en-IN" dirty="0"/>
          </a:p>
          <a:p>
            <a:pPr>
              <a:buFont typeface="Arial" panose="020B0604020202020204" pitchFamily="34" charset="0"/>
              <a:buChar char="•"/>
            </a:pPr>
            <a:r>
              <a:rPr lang="en-IN" dirty="0"/>
              <a:t>  Predictions are inverted back to original scale by inverse transforming.</a:t>
            </a:r>
          </a:p>
          <a:p>
            <a:pPr>
              <a:buFont typeface="Arial" panose="020B0604020202020204" pitchFamily="34" charset="0"/>
              <a:buChar char="•"/>
            </a:pPr>
            <a:endParaRPr lang="en-IN" dirty="0"/>
          </a:p>
          <a:p>
            <a:pPr>
              <a:buFont typeface="Arial" panose="020B0604020202020204" pitchFamily="34" charset="0"/>
              <a:buChar char="•"/>
            </a:pPr>
            <a:r>
              <a:rPr lang="en-IN" dirty="0"/>
              <a:t>  Root mean square error for training and testing data sets prediction.</a:t>
            </a:r>
          </a:p>
          <a:p>
            <a:pPr>
              <a:buFont typeface="Arial" panose="020B0604020202020204" pitchFamily="34" charset="0"/>
              <a:buChar char="•"/>
            </a:pPr>
            <a:endParaRPr lang="en-IN" dirty="0"/>
          </a:p>
          <a:p>
            <a:pPr>
              <a:buFont typeface="Arial" panose="020B0604020202020204" pitchFamily="34" charset="0"/>
              <a:buChar char="•"/>
            </a:pPr>
            <a:r>
              <a:rPr lang="en-IN" dirty="0"/>
              <a:t>  MAPE and accuracy of prediction model is calculated for both test and train datasets.</a:t>
            </a:r>
          </a:p>
          <a:p>
            <a:pPr>
              <a:buFont typeface="Arial" panose="020B0604020202020204" pitchFamily="34" charset="0"/>
              <a:buChar char="•"/>
            </a:pPr>
            <a:endParaRPr lang="en-IN" dirty="0"/>
          </a:p>
          <a:p>
            <a:pPr>
              <a:buFont typeface="Arial" panose="020B0604020202020204" pitchFamily="34" charset="0"/>
              <a:buChar char="•"/>
            </a:pPr>
            <a:r>
              <a:rPr lang="en-IN" dirty="0"/>
              <a:t>  The data is utilized to plot the predictions vs actual data.  </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407783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LSTM Approach</a:t>
            </a:r>
            <a:endParaRPr lang="en-IN" dirty="0"/>
          </a:p>
        </p:txBody>
      </p:sp>
      <p:pic>
        <p:nvPicPr>
          <p:cNvPr id="5" name="Content Placeholder 4">
            <a:extLst>
              <a:ext uri="{FF2B5EF4-FFF2-40B4-BE49-F238E27FC236}">
                <a16:creationId xmlns:a16="http://schemas.microsoft.com/office/drawing/2014/main" id="{53EDB953-335C-7C58-7AD6-6FF30BD19DD0}"/>
              </a:ext>
            </a:extLst>
          </p:cNvPr>
          <p:cNvPicPr>
            <a:picLocks noGrp="1" noChangeAspect="1"/>
          </p:cNvPicPr>
          <p:nvPr>
            <p:ph idx="1"/>
          </p:nvPr>
        </p:nvPicPr>
        <p:blipFill>
          <a:blip r:embed="rId2"/>
          <a:stretch>
            <a:fillRect/>
          </a:stretch>
        </p:blipFill>
        <p:spPr>
          <a:xfrm>
            <a:off x="1097280" y="1874838"/>
            <a:ext cx="4087525" cy="2588102"/>
          </a:xfrm>
        </p:spPr>
      </p:pic>
      <p:pic>
        <p:nvPicPr>
          <p:cNvPr id="7" name="Picture 6">
            <a:extLst>
              <a:ext uri="{FF2B5EF4-FFF2-40B4-BE49-F238E27FC236}">
                <a16:creationId xmlns:a16="http://schemas.microsoft.com/office/drawing/2014/main" id="{0F2E59CC-E7C2-8DA3-063A-399EF2A5E5E6}"/>
              </a:ext>
            </a:extLst>
          </p:cNvPr>
          <p:cNvPicPr>
            <a:picLocks noChangeAspect="1"/>
          </p:cNvPicPr>
          <p:nvPr/>
        </p:nvPicPr>
        <p:blipFill>
          <a:blip r:embed="rId3"/>
          <a:stretch>
            <a:fillRect/>
          </a:stretch>
        </p:blipFill>
        <p:spPr>
          <a:xfrm>
            <a:off x="6378522" y="1902479"/>
            <a:ext cx="4076657" cy="2588102"/>
          </a:xfrm>
          <a:prstGeom prst="rect">
            <a:avLst/>
          </a:prstGeom>
        </p:spPr>
      </p:pic>
      <p:sp>
        <p:nvSpPr>
          <p:cNvPr id="9" name="TextBox 8">
            <a:extLst>
              <a:ext uri="{FF2B5EF4-FFF2-40B4-BE49-F238E27FC236}">
                <a16:creationId xmlns:a16="http://schemas.microsoft.com/office/drawing/2014/main" id="{6735D268-8683-48E0-E460-E9C925C039FD}"/>
              </a:ext>
            </a:extLst>
          </p:cNvPr>
          <p:cNvSpPr txBox="1"/>
          <p:nvPr/>
        </p:nvSpPr>
        <p:spPr>
          <a:xfrm>
            <a:off x="1097280" y="4628059"/>
            <a:ext cx="10237470" cy="923330"/>
          </a:xfrm>
          <a:prstGeom prst="rect">
            <a:avLst/>
          </a:prstGeom>
          <a:noFill/>
        </p:spPr>
        <p:txBody>
          <a:bodyPr wrap="square">
            <a:spAutoFit/>
          </a:bodyPr>
          <a:lstStyle/>
          <a:p>
            <a:pPr marL="285750" indent="-285750">
              <a:buFont typeface="Arial" panose="020B0604020202020204" pitchFamily="34" charset="0"/>
              <a:buChar char="•"/>
            </a:pPr>
            <a:r>
              <a:rPr lang="en-US" dirty="0"/>
              <a:t>The plots shows how the prediction closely follows the actual dataset. This can be observed in both the training dataset as well as testing dataset. The analysis of the performance metrics gives the model accuracy of prediction on test dataset of 89%.</a:t>
            </a:r>
            <a:endParaRPr lang="en-IN" dirty="0"/>
          </a:p>
        </p:txBody>
      </p:sp>
      <p:pic>
        <p:nvPicPr>
          <p:cNvPr id="11" name="Picture 10">
            <a:extLst>
              <a:ext uri="{FF2B5EF4-FFF2-40B4-BE49-F238E27FC236}">
                <a16:creationId xmlns:a16="http://schemas.microsoft.com/office/drawing/2014/main" id="{83036C7F-B07F-3ADE-11CE-8823AC9F33D4}"/>
              </a:ext>
            </a:extLst>
          </p:cNvPr>
          <p:cNvPicPr>
            <a:picLocks noChangeAspect="1"/>
          </p:cNvPicPr>
          <p:nvPr/>
        </p:nvPicPr>
        <p:blipFill>
          <a:blip r:embed="rId4"/>
          <a:stretch>
            <a:fillRect/>
          </a:stretch>
        </p:blipFill>
        <p:spPr>
          <a:xfrm>
            <a:off x="5825397" y="5277045"/>
            <a:ext cx="2141406" cy="274344"/>
          </a:xfrm>
          <a:prstGeom prst="rect">
            <a:avLst/>
          </a:prstGeom>
        </p:spPr>
      </p:pic>
    </p:spTree>
    <p:extLst>
      <p:ext uri="{BB962C8B-B14F-4D97-AF65-F5344CB8AC3E}">
        <p14:creationId xmlns:p14="http://schemas.microsoft.com/office/powerpoint/2010/main" val="2035730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Decision tree</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488063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356A-889C-72D9-3F0C-9AC2538AC93E}"/>
              </a:ext>
            </a:extLst>
          </p:cNvPr>
          <p:cNvSpPr>
            <a:spLocks noGrp="1"/>
          </p:cNvSpPr>
          <p:nvPr>
            <p:ph type="title"/>
          </p:nvPr>
        </p:nvSpPr>
        <p:spPr/>
        <p:txBody>
          <a:bodyPr/>
          <a:lstStyle/>
          <a:p>
            <a:r>
              <a:rPr lang="en-IN" b="1" dirty="0"/>
              <a:t>Approach</a:t>
            </a:r>
            <a:endParaRPr lang="en-IN" dirty="0"/>
          </a:p>
        </p:txBody>
      </p:sp>
      <p:sp>
        <p:nvSpPr>
          <p:cNvPr id="3" name="Content Placeholder 2">
            <a:extLst>
              <a:ext uri="{FF2B5EF4-FFF2-40B4-BE49-F238E27FC236}">
                <a16:creationId xmlns:a16="http://schemas.microsoft.com/office/drawing/2014/main" id="{A7124164-0F72-CE21-36BB-9734AF42FFB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6035953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1478</TotalTime>
  <Words>1710</Words>
  <Application>Microsoft Office PowerPoint</Application>
  <PresentationFormat>Widescreen</PresentationFormat>
  <Paragraphs>107</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Retrospect</vt:lpstr>
      <vt:lpstr>Predicting Disease Outbreaks Using Time Series Analysis and Classification</vt:lpstr>
      <vt:lpstr>Aim</vt:lpstr>
      <vt:lpstr>Brief</vt:lpstr>
      <vt:lpstr>Approach</vt:lpstr>
      <vt:lpstr>Approach</vt:lpstr>
      <vt:lpstr>Approach</vt:lpstr>
      <vt:lpstr>Approach</vt:lpstr>
      <vt:lpstr>Approach</vt:lpstr>
      <vt:lpstr>Approach</vt:lpstr>
      <vt:lpstr>ARIMA Approach</vt:lpstr>
      <vt:lpstr>ARIMA Approach</vt:lpstr>
      <vt:lpstr>ARIMA Approach</vt:lpstr>
      <vt:lpstr>ARIMA Approach</vt:lpstr>
      <vt:lpstr>ARIMA Approach</vt:lpstr>
      <vt:lpstr>Prophet Approach</vt:lpstr>
      <vt:lpstr>Prophet Approach</vt:lpstr>
      <vt:lpstr>Prophet Approach</vt:lpstr>
      <vt:lpstr>Prophet Approach</vt:lpstr>
      <vt:lpstr>Prophet Approach</vt:lpstr>
      <vt:lpstr>Prophet Approach</vt:lpstr>
      <vt:lpstr>LSTM Approach</vt:lpstr>
      <vt:lpstr>LSTM Approach</vt:lpstr>
      <vt:lpstr>LSTM Approach</vt:lpstr>
      <vt:lpstr>Decision tree</vt:lpstr>
      <vt:lpstr>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Disease Outbreaks Using Time Series Analysis and Classification</dc:title>
  <dc:creator>Jayanand R H</dc:creator>
  <cp:lastModifiedBy>Jayanand R H</cp:lastModifiedBy>
  <cp:revision>7</cp:revision>
  <dcterms:created xsi:type="dcterms:W3CDTF">2023-12-05T15:36:14Z</dcterms:created>
  <dcterms:modified xsi:type="dcterms:W3CDTF">2023-12-08T01:55:20Z</dcterms:modified>
</cp:coreProperties>
</file>